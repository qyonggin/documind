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4a29cf7f1b4cf0" /><Relationship Type="http://schemas.openxmlformats.org/officeDocument/2006/relationships/extended-properties" Target="/docProps/app.xml" Id="R297c4af5c7eb42a0" /><Relationship Type="http://schemas.openxmlformats.org/officeDocument/2006/relationships/officeDocument" Target="/ppt/presentation.xml" Id="Rdbf40a45260747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ad66e7e98425b"/>
  </p:sldMasterIdLst>
  <p:notesMasterIdLst>
    <p:notesMasterId xmlns:r="http://schemas.openxmlformats.org/officeDocument/2006/relationships" r:id="R45f0d37451c8437d"/>
  </p:notesMasterIdLst>
  <p:sldIdLst>
    <p:sldId xmlns:r="http://schemas.openxmlformats.org/officeDocument/2006/relationships" id="256" r:id="R69be3856fe6b417c"/>
    <p:sldId xmlns:r="http://schemas.openxmlformats.org/officeDocument/2006/relationships" id="257" r:id="Rc4c8e9bed5434217"/>
    <p:sldId xmlns:r="http://schemas.openxmlformats.org/officeDocument/2006/relationships" id="258" r:id="R70587f0fa5f54972"/>
    <p:sldId xmlns:r="http://schemas.openxmlformats.org/officeDocument/2006/relationships" id="259" r:id="Rb5ece338fb6c4633"/>
    <p:sldId xmlns:r="http://schemas.openxmlformats.org/officeDocument/2006/relationships" id="260" r:id="Re5f35e90f8dd4632"/>
    <p:sldId xmlns:r="http://schemas.openxmlformats.org/officeDocument/2006/relationships" id="261" r:id="Rb80ed22ac03e4254"/>
    <p:sldId xmlns:r="http://schemas.openxmlformats.org/officeDocument/2006/relationships" id="262" r:id="Rcd500f0204f44dee"/>
    <p:sldId xmlns:r="http://schemas.openxmlformats.org/officeDocument/2006/relationships" id="263" r:id="Rea1fe985f91744b1"/>
    <p:sldId xmlns:r="http://schemas.openxmlformats.org/officeDocument/2006/relationships" id="264" r:id="R847a8eec0a134183"/>
    <p:sldId xmlns:r="http://schemas.openxmlformats.org/officeDocument/2006/relationships" id="265" r:id="R6687b5b0b4174dac"/>
    <p:sldId xmlns:r="http://schemas.openxmlformats.org/officeDocument/2006/relationships" id="266" r:id="R01c0b1521e804a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ad66e7e98425b" /><Relationship Type="http://schemas.openxmlformats.org/officeDocument/2006/relationships/theme" Target="/ppt/theme/theme1.xml" Id="R4ff6a7a9aab64660" /><Relationship Type="http://schemas.openxmlformats.org/officeDocument/2006/relationships/notesMaster" Target="/ppt/notesMasters/notesMaster1.xml" Id="R45f0d37451c8437d" /><Relationship Type="http://schemas.openxmlformats.org/officeDocument/2006/relationships/presProps" Target="/ppt/presProps.xml" Id="R615b799489064802" /><Relationship Type="http://schemas.openxmlformats.org/officeDocument/2006/relationships/viewProps" Target="/ppt/viewProps.xml" Id="R5c0b56fb6c7940ff" /><Relationship Type="http://schemas.openxmlformats.org/officeDocument/2006/relationships/tableStyles" Target="/ppt/tableStyles.xml" Id="Rbef365b616064efc" /><Relationship Type="http://schemas.openxmlformats.org/officeDocument/2006/relationships/slide" Target="/ppt/slides/slide1.xml" Id="R69be3856fe6b417c" /><Relationship Type="http://schemas.openxmlformats.org/officeDocument/2006/relationships/slide" Target="/ppt/slides/slide2.xml" Id="Rc4c8e9bed5434217" /><Relationship Type="http://schemas.openxmlformats.org/officeDocument/2006/relationships/slide" Target="/ppt/slides/slide3.xml" Id="R70587f0fa5f54972" /><Relationship Type="http://schemas.openxmlformats.org/officeDocument/2006/relationships/slide" Target="/ppt/slides/slide4.xml" Id="Rb5ece338fb6c4633" /><Relationship Type="http://schemas.openxmlformats.org/officeDocument/2006/relationships/slide" Target="/ppt/slides/slide5.xml" Id="Re5f35e90f8dd4632" /><Relationship Type="http://schemas.openxmlformats.org/officeDocument/2006/relationships/slide" Target="/ppt/slides/slide6.xml" Id="Rb80ed22ac03e4254" /><Relationship Type="http://schemas.openxmlformats.org/officeDocument/2006/relationships/slide" Target="/ppt/slides/slide7.xml" Id="Rcd500f0204f44dee" /><Relationship Type="http://schemas.openxmlformats.org/officeDocument/2006/relationships/slide" Target="/ppt/slides/slide8.xml" Id="Rea1fe985f91744b1" /><Relationship Type="http://schemas.openxmlformats.org/officeDocument/2006/relationships/slide" Target="/ppt/slides/slide9.xml" Id="R847a8eec0a134183" /><Relationship Type="http://schemas.openxmlformats.org/officeDocument/2006/relationships/slide" Target="/ppt/slides/slide10.xml" Id="R6687b5b0b4174dac" /><Relationship Type="http://schemas.openxmlformats.org/officeDocument/2006/relationships/slide" Target="/ppt/slides/slide11.xml" Id="R01c0b1521e80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fb5b87fc714e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8a86ca8c940b8" /><Relationship Type="http://schemas.openxmlformats.org/officeDocument/2006/relationships/notesMaster" Target="/ppt/notesMasters/notesMaster1.xml" Id="R43a0459e694142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79c1581cd24787" /><Relationship Type="http://schemas.openxmlformats.org/officeDocument/2006/relationships/notesMaster" Target="/ppt/notesMasters/notesMaster1.xml" Id="R42f6f1fe9a68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aa08e03c5f45f8" /><Relationship Type="http://schemas.openxmlformats.org/officeDocument/2006/relationships/notesMaster" Target="/ppt/notesMasters/notesMaster1.xml" Id="R7cec682b326b47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54c0c079934184" /><Relationship Type="http://schemas.openxmlformats.org/officeDocument/2006/relationships/notesMaster" Target="/ppt/notesMasters/notesMaster1.xml" Id="R8f3ad73905c04e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1702dcace419a" /><Relationship Type="http://schemas.openxmlformats.org/officeDocument/2006/relationships/notesMaster" Target="/ppt/notesMasters/notesMaster1.xml" Id="R71f8bf9b458748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d97cbf3cf4450" /><Relationship Type="http://schemas.openxmlformats.org/officeDocument/2006/relationships/notesMaster" Target="/ppt/notesMasters/notesMaster1.xml" Id="R02a6d3b87ad040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d7dc44a6984ea0" /><Relationship Type="http://schemas.openxmlformats.org/officeDocument/2006/relationships/notesMaster" Target="/ppt/notesMasters/notesMaster1.xml" Id="R25166a75d91943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a8951bdb914afe" /><Relationship Type="http://schemas.openxmlformats.org/officeDocument/2006/relationships/notesMaster" Target="/ppt/notesMasters/notesMaster1.xml" Id="R4df0b6ed686840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af4cb2ef8d43cf" /><Relationship Type="http://schemas.openxmlformats.org/officeDocument/2006/relationships/notesMaster" Target="/ppt/notesMasters/notesMaster1.xml" Id="Rfa299a19595746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4e60803bbb4dc4" /><Relationship Type="http://schemas.openxmlformats.org/officeDocument/2006/relationships/notesMaster" Target="/ppt/notesMasters/notesMaster1.xml" Id="R27c3d215341b43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28fe7079d248f3" /><Relationship Type="http://schemas.openxmlformats.org/officeDocument/2006/relationships/notesMaster" Target="/ppt/notesMasters/notesMaster1.xml" Id="R88c9673d263744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8609ea691411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065386be0246ef" /><Relationship Type="http://schemas.openxmlformats.org/officeDocument/2006/relationships/slideLayout" Target="/ppt/slideLayouts/slideLayout2.xml" Id="Rc3197e387f524a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97e387f524a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bf54d98a6947d7" /><Relationship Type="http://schemas.openxmlformats.org/officeDocument/2006/relationships/notesSlide" Target="/ppt/notesSlides/notesSlide1.xml" Id="R4a601f91a0fd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419c59ad504910" /><Relationship Type="http://schemas.openxmlformats.org/officeDocument/2006/relationships/notesSlide" Target="/ppt/notesSlides/notesSlide2.xml" Id="Rfacfcbafbd94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d700cc91b4e23" /><Relationship Type="http://schemas.openxmlformats.org/officeDocument/2006/relationships/notesSlide" Target="/ppt/notesSlides/notesSlide3.xml" Id="R4674efb06f674f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814fa432fc4e60" /><Relationship Type="http://schemas.openxmlformats.org/officeDocument/2006/relationships/notesSlide" Target="/ppt/notesSlides/notesSlide4.xml" Id="R0de90561d2e7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f310f2e5840d8" /><Relationship Type="http://schemas.openxmlformats.org/officeDocument/2006/relationships/notesSlide" Target="/ppt/notesSlides/notesSlide5.xml" Id="Rdb3699203a35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5903595ad450c" /><Relationship Type="http://schemas.openxmlformats.org/officeDocument/2006/relationships/notesSlide" Target="/ppt/notesSlides/notesSlide6.xml" Id="R6a3da511debb42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be3791004845bd" /><Relationship Type="http://schemas.openxmlformats.org/officeDocument/2006/relationships/notesSlide" Target="/ppt/notesSlides/notesSlide7.xml" Id="R187455c523f74b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5c04d43887496d" /><Relationship Type="http://schemas.openxmlformats.org/officeDocument/2006/relationships/notesSlide" Target="/ppt/notesSlides/notesSlide8.xml" Id="Rb5e924a1996b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94522d43d4d99" /><Relationship Type="http://schemas.openxmlformats.org/officeDocument/2006/relationships/notesSlide" Target="/ppt/notesSlides/notesSlide9.xml" Id="Rb2bfac689cfb4c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7e7307cad4ade" /><Relationship Type="http://schemas.openxmlformats.org/officeDocument/2006/relationships/notesSlide" Target="/ppt/notesSlides/notesSlide10.xml" Id="R34d13c4e16be4e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ff1f4a2904e21" /><Relationship Type="http://schemas.openxmlformats.org/officeDocument/2006/relationships/notesSlide" Target="/ppt/notesSlides/notesSlide11.xml" Id="R4afde3d07d9d4f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FA821-6599-4A32-8380-7003AD1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28EB8-BE91-43E0-BFE3-9FA2766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/ DOCUMIND RAG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3027C-E669-4F06-827F-5C6B654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검색은 됐는데</a:t>
            </a:r>
          </a:p>
          <a:p xmlns:a="http://schemas.openxmlformats.org/drawingml/2006/main">
            <a:pPr algn="l">
              <a:defRPr sz="36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답변은 왜 틀렸나?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FE340-CFB1-4256-A7E9-B069A7A5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문제는 모델 크기보다 evidence(근거)의 모양이었다.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17138-02FE-43A9-9D94-5CCCA5E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2D4CC-64D3-4805-B4B4-B28EAC8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66825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2~3/8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7E909-F447-4017-8197-AA490F6B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6687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답변 통과율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8B2F-BD54-4525-89C5-ED540067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FC9C2-3B89-404A-B256-B2C6839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33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819F9-CC22-4FB8-89D1-E87A7ADE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12395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A3C01-4427-4BEB-BA48-C63EFDC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66825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7/8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023A7-62C7-4803-B851-9D668F6F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6687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개선 후 대표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86335-382D-4083-9588-F90ED8D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A6AEE-C56E-47A1-A9AC-33D5637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24125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8/8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71B80-FEC1-41BB-8F5A-DB6C74F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24175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trace는 계속 통과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0C8E6-AB81-4F05-B8A4-2334BC7D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057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347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C948D-34E7-416A-9C4A-C83EF13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6"/>
          </a:solidFill>
          <a:ln xmlns:a="http://schemas.openxmlformats.org/drawingml/2006/main" w="0">
            <a:solidFill>
              <a:srgbClr val="1C2B3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5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이번 작업의 한 줄 결론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FD92D-E8E3-403C-A34C-BD449773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6"/>
          </a:solidFill>
          <a:ln xmlns:a="http://schemas.openxmlformats.org/drawingml/2006/main" w="0">
            <a:solidFill>
              <a:srgbClr val="1C2B3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LLM을 바꾸기 전에 PDF를 LLM이 읽을 수 있는 구조로 바꿨다.</a:t>
            </a:r>
          </a:p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표, 범례, 2단 카드, 라벨-값 관계를 보존하고 질문에 맞는 근거만 압축해 전달했다.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0D578-2923-4EFD-8A24-8B1E40E3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9D071-434C-4620-874C-71AFAF47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483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evaluate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EB9BC-6132-4D13-B1FB-8DEA835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816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0ECCF-0750-4E72-8870-213F0CD8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48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chunk 진단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20C67-5D08-4F26-B867-9ABBC069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81650"/>
            <a:ext cx="971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1BA25-78C4-4239-9F59-8D64957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483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68216-1FFE-4F14-8502-B0F9AC5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816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6129C-E40D-42FA-AC6F-22863A20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48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1B142-81C6-4E10-BE46-3B515FA7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54A91-5495-45DF-9655-9E0A361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483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evidence 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0DAD2-C3EA-4CC4-AF96-D92C1E7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6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범위: 이슈 #18 RAG 평가 루프, PDF layout/table 청킹, 근거 압축, 실패 시도와 되돌림까지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6B70A-AB28-45FE-9734-3AC2FD5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6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9281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47B2D-035A-480A-88D4-CF45B62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E1265-DAEB-4D24-A120-C73DE68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 /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EC633-B025-4FC7-B028-15F4B6D9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실패를 검색 문제와 답변 문제로 분리했다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082A6-9894-4141-9CCF-028AB524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69DF6-616E-4608-B4F6-F39E72F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 실패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E325E-3E12-41FC-BE63-73F76350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05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171D6-B24B-4921-A296-4AFC1C53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C6188-9930-4057-B422-8A63499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72CB6-E353-44AE-8ECE-A4E564D2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42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근거가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들어왔나?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954FD-EE56-4C99-8A72-0E7FDAE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598EA-E116-4F1F-8B46-02C025A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24050"/>
            <a:ext cx="285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36000-5B46-4032-BD96-AA60E52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240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5520F-9EAD-4EED-B5A8-E1E1DD4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76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CAD76-8A1B-4269-9155-E012EBEC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FE46E-5FFF-45D2-9A69-9A61903B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05075"/>
            <a:ext cx="28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508A8-B717-42A6-BE8A-CA854D3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051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12EBE-4E2E-4765-8704-8634B78C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0F583-E979-4DCC-88D0-309153B9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553CE-1487-4527-B7DC-6838E471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아니오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retrieval 문제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EA6B6-B234-4A96-96DA-B7782DFA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A0511-988B-44EB-9049-3465B270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예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answer 문제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B3F8F-AC7A-4CE5-8969-B9C25F02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337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2F9E-7C67-4DF5-81D1-DE474446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07B98-B1F9-49D4-A67D-31B5A0A6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9316E-327C-4C6E-B378-794BAE3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근거는 맞는데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답변이 틀림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D5E4A-5DB1-41CD-AA4A-38CDC98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73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31767-E22B-485B-97E0-77E447B9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관찰 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7F973-5DD2-45EE-B58B-C52B399B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trace(검색 근거)는 8/8로 통과했는데 answer(답변)는 2~3/8까지 떨어졌다.</a:t>
            </a:r>
          </a:p>
          <a:p xmlns:a="http://schemas.openxmlformats.org/drawingml/2006/main">
            <a:pPr algn="l">
              <a:defRPr sz="142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즉 ChromaDB가 아예 못 찾은 문제가 아니라, EXAONE이 받은 문맥에서 정답 행·열·카드를 구분하지 못한 문제였다.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A4208-8707-462B-ABF9-4295EC24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97932-51AE-464D-984B-A70C5820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10075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 8/8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78DEA-A6CF-4C73-BF91-08DA1AF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0125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후보 존재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028141-98AF-49CE-93FD-D50EC7F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도구: ai-server/evaluate_rag.py, rag_quality_questions.json, /debug/rag-trace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2350F-5384-4CB8-8A60-95215ED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9776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02ACA-2D96-48DA-8AE9-5974FEAD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0EA8E-DA7A-4636-9AB6-222529A4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 / 원인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210D8-469A-4008-AA5B-DF20E975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평면 Markdown은 문서 구조를 잃어버렸다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0FEB4-B13D-448D-9719-58907353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parser 결과가 텍스트로는 보이지만, RAG가 필요한 관계는 사라졌다.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278C2-27DD-4954-B36D-DD652CA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74C1E-5415-4B07-94E5-D441129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EA457-C868-4AB9-901A-219709B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raw chunk에서 보인 현상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F708B-9F5B-47A3-90DB-9511379A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필요한 보존 방식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774D8-1E5A-4F53-B672-84AD698E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DAC09-BA76-40D6-9D2C-3A16889C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E44FF-080B-4571-B7A2-563FCF2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5D561-1F1E-4FA3-90B9-0F6A180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2단 학과 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F4A8F-3488-4DDB-BAE1-4286A24E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좌우 학과 설명·교과목·취업처가 한 청크에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34AFB-97C3-47B9-A49C-71AE373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193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열 제목과 라벨을 붙여 별도 근거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8228A-04F1-4272-8FD1-258744F2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26BCD-B04F-441E-A75B-524C173D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D6FF4-5281-4102-BC18-343BEE9F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B9FB3-541E-4269-9BF0-5B21BFD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모집인원 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BFCC0-C878-4D62-A9CC-FF67C765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289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학과명, 모집정원, 수시/정시 열 관계가 약해짐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1B1C6-A76D-4AE1-B87A-E7503747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289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table_fact로 행-열-값 문장화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D7DC4-C40D-4175-9DDB-E63F04F3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C5AA9-D8AC-457D-A073-5657A53C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6C71D-6919-456C-9B69-61018E42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86A4B-1494-46D4-BEE9-D875BB8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4C72D-033A-4B2D-88E4-A221AC9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385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♣ 표시 의미와 전체 학과 목록이 분리됨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AE8D5-3808-4D6B-BF5C-1DC5A380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385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범례 조건을 만족하는 row subject 집계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42B81-2A5A-4177-8488-4CBADB8E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9F3BC-07B6-478B-A77C-21249192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243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FC3BD-5581-432E-B801-E6256C00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243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4CFA26-AC3C-48B9-8353-5223D8F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라벨-값 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B9250-B367-4A8B-BAAE-9EEA157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결석일수 0일과 가산점 20점 관계를 못 읽음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9CAFB2-4E5F-4265-88C1-FF8BD6E6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481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0">
            <a:solidFill>
              <a:srgbClr val="F5EC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header label과 value label을 쌍으로 압축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3D1AF-B703-4E8C-9D78-13F44AC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7"/>
          </a:solidFill>
          <a:ln xmlns:a="http://schemas.openxmlformats.org/drawingml/2006/main" w="0">
            <a:solidFill>
              <a:srgbClr val="B9C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9BF9F5-515A-4049-94DB-31FBA383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판단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3F89A7-BBC9-4488-B2F7-86ACA34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054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청킹 품질은 글자 수 문제가 아니라 관계 보존 문제였다.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64F29C-2BAF-4DC4-944E-5878700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관찰 샘플: 주요 취업처 주요 취업처, 주요 교과목 주요 교과목, MBTI 장식성 짧은 청크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837DE-4A71-46BA-9B13-F535E53E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9181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781B9-939B-4881-91C0-601D0DBB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4F60-E8D6-434E-8243-C4797779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 / 참고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EC6AC-DDAD-43C8-8889-011346F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대기업 사례도 같은 방향을 말한다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527D8-589E-4389-AAF1-403A373E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5D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D516E-568F-4073-A784-15EA6B9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E6AF8-18CD-47CC-A7AA-BA29619A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Microsoft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F6DAD-925B-4A3A-B112-1477761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 Intelligence RAG: 표와 문단 구조를 보존해 chunking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878A0-86A3-4C15-9736-3EFDC01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7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DB885-B197-46CB-B8D9-E820687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90FA5-F088-4750-A2DE-391E716C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97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Google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9CFBB-E826-4A6F-B55A-4C3F34CF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 AI Layout Parser: text/table/list 단위와 context-aware chunk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42ED8-81F4-4C10-8252-37624C7F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B755F-54EA-4CFA-8735-E5BB20FE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5A679-4CBA-4CD6-AFB1-59916E9E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97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Anthropic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62839-6C0E-47DB-9A28-1A7F77DA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Contextual Retrieval: chunk에 문맥을 붙이고 BM25+embedding 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C9E55-DB43-45B5-9ACE-DD7F4DC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95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CE110-6BA8-468C-8EB4-99829FF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D7BB4-6BA4-4FE5-819A-439D332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NVIDIA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050EB-5C8E-4C21-B9A9-F141834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Enterprise RAG Blueprint: text, table, chart, image를 분리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09CA1-E461-4308-9D40-35DDE42B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5D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C0F4B-E61D-4962-A97C-3CBD1C3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7F549-D432-4B49-A098-8520EA0E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956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IBM Docling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78679-9662-4DA9-9E93-ADD8A32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481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 analysis와 table structure recognition을 별도 계층으로 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A708D-7627-42B4-A21B-489BCAFF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7A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A1C32-EE7C-4F0D-BB10-979C723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1A866-6139-42F6-894C-5B26DB0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Google Grounding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10301-670E-442B-954C-D195431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 claim이 facts로 뒷받침되는지 검사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708C5-537F-4F87-A0C9-192BDD6B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62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FBF6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9A904-8CE0-428B-A1A6-5A59C10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0">
            <a:solidFill>
              <a:srgbClr val="FDFBF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적용 원칙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0598D7-D33B-4CE8-BB41-AF618213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0">
            <a:solidFill>
              <a:srgbClr val="FDFBF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문서를 평면 텍스트로만 저장하지 않고, layout(배치)과 table structure(표 구조)를 검색 가능한 근거로 분리한다.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CC69F-FF80-43B7-88CE-F47CD7F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참고: Azure AI Document Intelligence, Google Document AI/Vertex AI Search, Anthropic Contextual Retrieval, NVIDIA RAG Blueprint, IBM Docling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792984-E51A-4C42-87B2-84D38F9D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5452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0ADFF-1ADD-44A9-BA26-DF564B64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879E2-5BA9-4EBC-BAD0-ED4102EC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 /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44925-6466-4FFC-82BD-FB16A29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단위와 답변 근거를 분리했다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3AAE9-FFA5-4E16-ABED-FD884BB2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FB1E8-BBD3-46FC-BB4E-660EB915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PDF 업로드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E66F7-3E0D-425A-A89F-1B1D36C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336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70BA4-C5B5-4F70-B268-169EDF5B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917AD-7E3F-4FB9-8753-BB4DB1F8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05000"/>
            <a:ext cx="148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CD1A9-C4C9-4F05-8DAA-12560E90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1219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Markdown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 JSON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FABE1-C697-46E8-9849-F675AD4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3B201-81AE-4724-9503-F02A9B3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8ABDE-5969-4ED9-A98D-450ED5B0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4710D-97E5-44D6-B9D0-16845FC6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cleanup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빈 표·반복 제거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4C356-782C-4903-A0AE-2A81B92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8E054-01A8-40A9-A10B-275E3A93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E76C9-FE39-4F7A-9059-123BAC08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112EB-B38E-4F19-837E-3B78ADB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76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E46F9-AD27-4B08-955A-28DB951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C7D13-1BC7-4952-A34E-80A9D0B6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CD446-3ABA-44C8-959D-D3F30E0C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D1991-4C87-4FB2-85EB-E533B80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338E4-8FED-4569-B8EF-94FF0D5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521D1-39BD-411F-9C6B-781EDEB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1C1D7-DBD6-4768-91D0-E3A8326E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192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F4003F-1671-4E84-9978-D8F6E21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chunk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AEFA2-9B03-4085-ACBF-5FBF6EB0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B02F0-DE55-4F15-BE63-5BE96B5E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ECF42-73A8-4876-AEB5-E74AE377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F6983-A366-48F6-B922-103A7A4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layout_parallel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BC11E-93E5-46E2-8B3C-9B43F360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4D8E3-5B38-4B55-8B11-3EDEB32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24000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5159F-B524-49AA-B67D-A667D583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336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6A3D1-4343-4171-88A5-F2949641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CA614-9339-4E78-901B-0824F5CC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E24B2-8724-4596-B860-776A6503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99027B-230D-4382-8103-39F147E3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7AD662-73A7-41EA-90DD-BB92A73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33625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A81341-189E-4014-B918-89262EBC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336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6EDBF-A8F0-4B64-AC87-81B8B1F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47A111-4C12-4388-96D7-A55C0A5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1352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ECD8"/>
          </a:solidFill>
          <a:ln xmlns:a="http://schemas.openxmlformats.org/drawingml/2006/main" w="9525">
            <a:solidFill>
              <a:srgbClr val="C895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E7427F-136A-4EBE-9CCB-E63CB18F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0">
            <a:solidFill>
              <a:srgbClr val="F5EC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ChromaDB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FA4F7B-B416-4B6A-9DA7-B5D6E44C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33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852D5F-98D5-46F4-A494-8EEF6C5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EA47E8-872A-4CB2-A55E-3D4E5C7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905000"/>
            <a:ext cx="1162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D588CF-21DB-4B4E-947D-69271AB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38350"/>
            <a:ext cx="895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압축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9198AC-5970-48CE-88E8-5A1DAB9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981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0770D5-8D4B-48FC-8548-7E1F5F7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 시에는 전체 원문을 다 넣지 않는다.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744497-AA5D-48BD-AC9A-BE70C51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 subject(주어)와 attribute(속성)가 맞는 structured facts(구조화된 사실)를 먼저 넣고, raw chunk는 출처와 보조 근거로 남긴다.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8E57B3-0DD0-4235-B2DD-9EE84814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파일: ai-server/main.py, ai-server/layout_blocks.py, ai-server/check_chunks.py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9E897E-9833-4E48-9B60-DC9BC9A1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3171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57C20-904E-4F2E-B900-9FF55FA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208D8-3718-451B-9D87-6AAA446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 / 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E3672-BACC-450D-A340-A42BFA1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보이지 않던 품질을 숫자와 trace로 보이게 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D55CA-210E-4E5F-B6C3-8242EE17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AC70-C18B-48F3-9D6F-D48F5F9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check_chunks.py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저장 청크/품질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2EAEA-8499-431E-8452-29DAEDC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479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40905-FCAD-4AA3-97F7-1BDD144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1312D-BE43-49D6-BD41-5F88D4D8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19933-5E05-4AEA-BA7C-E4BAD8D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debug/rag-trace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단계 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D71E4-0D7D-4FF3-B3E5-F9B908C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479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A1233-5019-4857-9AAB-7F39222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1B80F-C2A6-48CD-B1A2-D5695A73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8B063-FFA4-4922-BDA5-DFE2267A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evaluate_rag.py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답변/출처 자동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D7DF4-F6A9-4588-935B-01F1A79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84C95-687B-4653-9853-D7315AC2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28F53-D484-422D-A6BD-8FD329E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F3912-5AF3-4639-AEDB-05AB5515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JSON/CSV output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상세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A3610-E629-4654-B86B-E905BFB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E7A96-C4F1-433C-BE5C-C83C6DAE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121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94160-3661-4426-A2EF-BB6523BC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관리자 화면 chunk와 일치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3BDD2-87A3-45D8-B864-88B1A394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D0AA4-3F86-4FEC-99B7-C73B97B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 342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9054F-8D5A-4F03-A8BF-9CC0BFCD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구조화 사실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CF9EE-24B9-4940-80AE-2AA142A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CC201-75D3-4B06-B504-CEC7D02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CD2A6-816D-4D60-85F4-730F5FA5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2단 카드 보조 청크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3E19F-8F05-44BD-A3CB-EAF334DF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9CA82-1979-4E0B-96C3-A25CBEC8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7/8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EB76D-D957-4253-BE94-3E9D0E0D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대표 평가 통과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D54226-669E-48EA-97E3-01941AA2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왜 중요했나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09D60-8003-4E6E-A1D2-79FEF95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435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이전에는 “왜 틀렸는지”를 로그에서 감으로 봤다. 지금은 검색 후보, 최종 context, missing keyword, forbidden hit를 분리해서 확인한다.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3103D-B240-4A8E-B44C-23179EE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대표 명령: python evaluate_rag.py --include-query --case-id ... --output /tmp/result.json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3FACFB-3E38-4D67-8D17-73538477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2608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ED6C76-788B-471F-A4CE-B04FFD20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4FD58-E587-445A-A503-B4611087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 / LAYOUT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3132-FCA9-4E0C-A2AB-A473302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2단 카드 문제는 layout 보조 청크로 풀었다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244D9-8A75-45F1-9E84-39C77832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457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6BF82-8036-4978-A89B-41C3E354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PDF 51페이지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F4FC3-31BD-4011-ACA5-21949F4D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19050">
            <a:solidFill>
              <a:srgbClr val="0B5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073E8-A11B-4084-8E75-589F34D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098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19050">
            <a:solidFill>
              <a:srgbClr val="C75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E3B64-5A73-4016-8E0F-A02B1E6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컴퓨터정보공학과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교과목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취업처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5B08A-4CCD-42A6-9EA3-BCC7EA4E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컴퓨터시스템공학과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교과목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취업처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4685E-7028-4618-9D83-76ABFB7E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Markdown에서는 좌우가 한 문단처럼 섞였다.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D2AF6-C5EA-4692-81C4-5374BB0B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68EE7-100D-4DA0-AB99-FCF3B92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E282D-BEEA-4AB6-B625-4C4753D9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9538A-7B84-41A2-AA4D-44541585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layout_parallel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BE35F-6A49-47B0-BD87-A65216DB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3714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열 1 제목: 컴퓨터정보공학과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교과목: 자료구조, 데이터베이스...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취업처: 레인보우 브레인, 퀸텟시스템즈...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열 2 제목: 컴퓨터시스템공학과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교과목: C/C++/자바...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취업처: 제너셈, 와이즈와이어즈...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7115B-4BAE-4A03-813E-6C2CC4AD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3CC56-6BB6-490F-AFBB-897D021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386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bbox coverage 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5054D-E259-41A1-A50B-19999736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E5297-33E0-435A-BE85-29EFD18C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confidence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10379-5E12-433C-9C91-B0ACDB07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구현 원칙: 기존 raw chunk를 지우지 않고, 안전 판정된 layout 보조 청크를 추가했다.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19B87-871D-4A80-97C5-56E2032F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068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8A5E9-F62A-40F7-9678-718BE8C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228F2-0D08-44B6-99C1-FF0E46D8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 / TABLE/EVIDENCE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00D91-C0C6-4B4C-8825-0C86BC6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표는 ‘보이는 모양’을 사실 문장으로 바꿨다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9D801-BF7C-45BA-A75E-2B9A9DF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286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97796-01A7-4B94-8D7F-5009C094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범례형 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83903-F76A-4754-A880-892F4AB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♣ 표시: 4년제 학사학위(전공심화)과정 개설 학과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00C1F-7588-4769-A2F9-D9C85E96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로봇자동화공학과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자동차공학과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전기공학과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컴퓨터정보공학과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컴퓨터시스템공학과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92F9-528F-4477-960A-BC93DA4B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98258-E639-454E-B663-73619B61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053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legend aggregate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355FB-F384-4648-8356-00E232F4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57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조건을 만족하는 row subject를 모아 목록 근거로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435EB-BFDD-4303-B1CB-F3CC6928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90700"/>
            <a:ext cx="47625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A2E0E-29B3-40E3-8EAE-D175FAA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57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라벨-값 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F8495-F8E4-450C-AE4F-07135EC8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299A6-A8E6-4AB1-B0E4-45F91AE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결석일수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7DAE3-69CE-4DCC-9B24-64FFEACC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22850-5DDF-4DB1-B447-B79A0238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D2AE8-A7BD-4F50-A78E-6C1E9EB0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43E93-7842-45D3-8A08-BD386A1D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3406A-E2EA-44C2-B9BF-7601C20C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10일 이상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C6ED-5E0D-4F17-B427-F49A3703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07F01-60D7-45B9-B3B4-5009EF14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가산점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725A6-F7DF-488D-916D-BF5A3E6F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20점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F08AF-F794-4A45-A6FE-93DC7E14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18점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E4F88-9195-4796-8378-1662186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16점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7DEA3A-C1D0-4276-B255-83FA440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14점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A07F3-C4A8-4303-94D1-13C39A7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92B08-CB36-4AA3-8671-2EAFADC2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51C54-E5C7-4082-A52A-D252877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DD7BA-E9C3-4F7A-BAA6-F97AA60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363B68-1441-4FAC-A263-7ABD0B3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49021A-919A-4462-A265-554C46B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333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35BAA6-1D8E-483E-B14B-3806409D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출결상황 가산점: 0일=20점; 1일=18점; 2일=16점; ...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C0E17-2763-409F-819E-1A8EA23E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82F3B9-C407-4039-B7BF-F7594A69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label-value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A5309E-694F-4E4E-961E-CE97441C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smoke test 완료: legend aggregate, label-value table evidence. GCP 실문서 재색인 검증은 다음 단계.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B3863-E067-4D80-A6FD-06E305E9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6399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4D114-BBBF-4048-B00E-8FEF09E5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DF4B4-D475-44A7-9B6D-0A8DCC72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 / TABLE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D752B-0508-44C5-853B-8AE649A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셀 값만 보면 ‘20점’의 의미를 잃는다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9DED9-7330-4F85-81A2-771B5F2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점수처럼 보여도 표 주변 제목과 머리글이 다르면 완전히 다른 사실이다.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070B3-9259-48A9-AA79-1B3F82A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F587D-F0F2-4701-9C2D-D951954E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58891-BA02-4439-A5FC-169B433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938D8-2820-4A95-BB75-ABB85E1E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3752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다. 학기등급 점수 환산 방법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D3A62-83C0-401E-A93D-7129465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E9986-4343-4123-BDD5-66E28F3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산출 석차등급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DA67E-64C2-4228-9AC5-671CA21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99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470D5-A264-4EBD-A296-5DEF7CB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861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200점 환산식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96471-4356-46E7-8512-E0E8BC1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E7348-1473-48FD-8029-91176D40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0">
            <a:solidFill>
              <a:srgbClr val="F7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1.000000등급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75239-4E14-45B0-8834-22BCED9B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EA190-0E60-415E-9EAD-C4DDAAF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099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0">
            <a:solidFill>
              <a:srgbClr val="F7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25 × (9 - 산출 석차등급)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90077-145C-4F9E-823E-6948A04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4095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262CE-9A0C-47CF-8FC3-EC4EF64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785F0-188A-4F25-841C-75BE550B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457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393D4-A9C5-4B4D-A8EA-6A30037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3752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라. 출결상황에 따른 가산점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1913A-2BD0-4C03-A74D-3DF58AE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96914-014E-4C2D-A99F-6F3B2935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861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결석일수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725FE-B19F-476A-8DC0-A0D4C43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0BE33-23B4-4D01-B69D-F1D9EB0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0일 · 1일 · 2일 · 3일 · 10일 이상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7762F-B60A-4C44-AAE8-D32724A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3C659-0AF7-4643-91C4-F53B418E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099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0">
            <a:solidFill>
              <a:srgbClr val="F7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가산점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58C1C-181B-4E93-A7EE-13141CE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BB1E2-06E0-47C9-AC53-7F1C0B4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0">
            <a:solidFill>
              <a:srgbClr val="F7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20점 · 18점 · 16점 · 14점 · 0점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7909C5-60FD-42B0-BFB2-63EC2E56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2133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7335A-D3CC-47CC-ADE1-24BD1DA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955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문제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4F2E0-CDDF-49C0-9A4E-617621F8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가산점 = 20점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2A7360-14EB-49D2-BCF7-92D129E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어느 표의 값인지</a:t>
            </a:r>
          </a:p>
          <a:p xmlns:a="http://schemas.openxmlformats.org/drawingml/2006/main">
            <a:pPr algn="ctr">
              <a:defRPr sz="10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주소가 사라짐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DDC4B-FDEC-4A2E-8BC6-066CCEC4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150B93-1E09-429F-B866-76D97EA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A02929-9B4B-4F2C-97EB-FB9E5DF7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FA94D-9587-4375-8AC0-1DA1C11F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D69892-46EB-4766-B765-2A8B7C04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948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8D6B85-2F53-4197-8429-EE0A8FA4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6725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개선 방향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5ECA9D-1F2A-4A09-8BCA-F1D458D2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91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값 하나만 저장하지 않고 section heading(주변 제목) + table header(표 머리글) + row label(행 라벨) + column label(열 라벨)을 함께 묶어 evidence(근거)로 만든다.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11872D-8B2F-420A-A999-69A0864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핵심: 표 질의는 셀 값보다 표의 문맥 주소가 먼저다. 이 주소가 없으면 EXAONE은 맞는 값도 일반론으로 흐릴 수 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53B762-D18A-4900-B27C-423C4851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8439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DBE5F-681F-4F23-B555-2CEE0FF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55402-7C4C-4ADD-9AB4-4B4D992E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 / SCOPE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C0530-A83D-4C68-BBC1-63C2267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근거는 표의 주소까지 붙여서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C870F-8C9B-4DAA-B6C4-D7DC2104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표에서 뽑은 셀 값을 바로 답변에 넣지 않고, 그 셀이 어디에서 나온 값인지 계층을 같이 만든다.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CA95C-F9E4-4BD7-BF41-204756E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1488-826C-4EF6-B0CD-E309DEDD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8F8DD-38E0-4FEC-BA18-BFD7738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49594-0A4E-4656-9049-C1F2DA8A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VI. 성적 반영방법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&gt; 수시모집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FE05D-521D-4CDA-9E96-32C9BA5C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907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39F82-C70D-4AAC-909C-A5ECEEA0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94D67-60EE-41D8-B9D2-EE6C359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98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 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9EB30-7AFE-41C7-A37B-199226C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라. 출결상황에 따른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가산점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230BB-815B-4998-85F8-1AFF7853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9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EC33B-9A79-4076-8607-452CEAE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703E7-FE11-4D94-AB89-8ACFCDC1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98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6B2BB-9B7B-4B43-816B-5D88625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432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결석일수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A5BD7-D4D2-4EFD-BF1E-26C632A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4C62F-AA17-4B67-A12B-423B5A6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D9D6E-E35E-45B5-B919-AB67E830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row label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EC0F8-1C77-4CAA-873F-C79C5B1D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가산점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23DBE-1F38-47FA-BA34-BE5DDFF5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A98B8-EB3A-4780-BF92-129B352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43967-887D-4479-95E8-82452725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column/value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2BB9D-3FEE-4F4F-B71D-8C669992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0일=20점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1일=18점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11553-66AB-4FA8-96BC-599F8E30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AF27B-865F-48B4-B53F-AF425D61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784A0-FDAB-4B9A-BD76-34FF7D7E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BEDB1-86CD-46A7-8B48-DB071C2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7AC4A-24D1-4F49-BD05-5BC4F658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7C5ED-08F3-473E-B97A-3E61354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C8CAC0-414F-4B0E-B502-71A91EC4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B7A19-64C1-4C8B-B174-F57B65F6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B4CBB2-EDDE-4143-8E68-D2427C1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96964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AEE0C4-A658-4684-A9AE-8C63353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structured fact(구조화된 사실)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F19D92-A90C-4BC4-839D-0C5C1A56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910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출결상황에 따른 가산점: 0일=20점; 1일=18점; 2일=16점; 3일=14점; 4일=12점; 5일=10점; ...; 10일 이상=0점이다.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18AF49-E52D-467B-A89E-31EC18E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71950"/>
            <a:ext cx="990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CDB52B-8144-4DC4-A88C-97C00FA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4340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LLM에는</a:t>
            </a:r>
          </a:p>
          <a:p xmlns:a="http://schemas.openxmlformats.org/drawingml/2006/main">
            <a:pPr algn="ctr">
              <a:defRPr sz="120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 문장만</a:t>
            </a:r>
          </a:p>
          <a:p xmlns:a="http://schemas.openxmlformats.org/drawingml/2006/main">
            <a:pPr algn="ctr">
              <a:defRPr sz="120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우선 전달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7AED92-B0F9-48C9-80FE-A584C4B0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57850"/>
            <a:ext cx="8839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262A84-D827-4A90-9681-D7B97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72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효과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AB5641-EA2E-49B8-B232-DB73F5D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21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질문이 표 전체를 묻더라도 답변 모델은 셀 값이 아니라 ‘표 제목이 붙은 사실 문장’을 읽게 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372176-372E-4C50-9CF8-C994BF8E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구현 위치: ai-server/main.py의 table evidence 생성 단계. 고정 케이스 문자열이 아니라 문서에서 추출된 표 라벨을 조합한다.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530DCF-C419-4BE9-8222-C78C272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61005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94D27-D2C6-46F4-8DAB-3412C83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1D970-6909-4089-9842-F0410174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 / CONTEXT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5E42B-43BE-4F1F-B58A-E5059F82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질문과 표 주소가 둘 다 맞는 후보만 남긴다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601EF-90F5-42D3-A41F-99F2A4C2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AD3EC-548D-4F3F-A81D-F400D1CE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811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5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4B156-B75F-4279-AFA1-5584684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수시모집할 때 출결상황에 따른 가산점 좀 알려줄래?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B877D-C8A5-4814-B342-F5DA353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086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03143-6ED5-4F49-8610-8C276CA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243B5-B38A-4BA3-97FC-591E65E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탈락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AC93C-1E3C-48D5-A04C-2DF9E5D5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나. 학교생활기록부 성적 반영학기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C569C-27F8-4291-952A-77304E6B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학기 표라서 ‘출결상황’과 맞지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2090-A405-41DE-8735-E79704C3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3086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FDEA5-1E38-4B04-BF36-02CC267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098F6-1562-4BCC-B892-20C2FAE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051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탈락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725C5-7CBD-4593-AEC7-B3D9E49B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다. 학기등급 점수 환산 방법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FC77B-6DD5-4EB2-8E84-F8CF6BC4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242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점수 표지만 ‘가산점’ 행이 아님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D61AF-36C1-4FFD-BEE0-2CA4CC3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0861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36165-85F6-4FE8-B5D3-52CC642D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232E2-B6F1-46B5-B18E-2C98C41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051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채택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C1CE5-3525-457B-BA55-D1805950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라. 출결상황에 따른 가산점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5C2BF-341B-462F-9CA5-4DED8D5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제목, 행 라벨, 열 라벨이 함께 맞음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27295-19C1-4FE8-863B-3AE1347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4810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00BA5-F560-4304-AC5B-C270EFB3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4810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86AC0-8679-4E75-864D-B6AE7EB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2435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0C054-DFC5-4996-A52B-B312DC9C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7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0A28C-C59F-4319-B848-2462FC79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400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35EFE-52A4-43CE-B947-14FC0D9C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final context(최종 문맥)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4F9F4-FEBB-48CC-AE6F-A3F681CA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76800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출결상황에 따른 가산점:</a:t>
            </a:r>
          </a:p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0일=20점; 1일=18점; 2일=16점; 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25643-ABEB-40F0-9568-C459B6E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FA833-6905-444D-9099-39244BA2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하드코딩이 아닌 이유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63C9B4-345B-4289-8208-AD8062E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출결/가산점 같은 케이스명을 코드에 박지 않고,</a:t>
            </a:r>
          </a:p>
          <a:p xmlns:a="http://schemas.openxmlformats.org/drawingml/2006/main">
            <a:pPr algn="l">
              <a:defRPr sz="112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문서에서 추출한 제목·머리글·행·열 라벨을 질문 단어와 비교한다.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F394B-223C-4903-BF09-0AF98C4B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53100"/>
            <a:ext cx="7886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89588-E03D-4BB9-96E8-55AB487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674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14EB9A-FF4F-401C-9C50-D51856D4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67400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QA는 ‘검색된 청크’보다 ‘질문에 맞는 표 문맥만 남기는 과정’이 정확도를 좌우한다.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CE202-DFA5-4717-AD2A-A6106444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 검증: 출결 가산점, 전공심화 범례, 복수 표가 있는 페이지를 별도 평가 케이스로 추가한다.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B438F-6A88-406B-911B-3465911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0584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2026-05-20T04:29:54.8130000Z</dcterms:created>
  <dcterms:modified xsi:type="dcterms:W3CDTF">2026-05-20T04:29:54.8130000Z</dcterms:modified>
</coreProperties>
</file>