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1acac273644812" /><Relationship Type="http://schemas.openxmlformats.org/officeDocument/2006/relationships/extended-properties" Target="/docProps/app.xml" Id="Ra5845295ab2847a6" /><Relationship Type="http://schemas.openxmlformats.org/officeDocument/2006/relationships/officeDocument" Target="/ppt/presentation.xml" Id="R344560c45cc1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2252302e424b2d"/>
  </p:sldMasterIdLst>
  <p:notesMasterIdLst>
    <p:notesMasterId xmlns:r="http://schemas.openxmlformats.org/officeDocument/2006/relationships" r:id="Rbd73811c2e304afc"/>
  </p:notesMasterIdLst>
  <p:sldIdLst>
    <p:sldId xmlns:r="http://schemas.openxmlformats.org/officeDocument/2006/relationships" id="256" r:id="Rebb6c08b27464f68"/>
    <p:sldId xmlns:r="http://schemas.openxmlformats.org/officeDocument/2006/relationships" id="257" r:id="R9025aae2308847c6"/>
    <p:sldId xmlns:r="http://schemas.openxmlformats.org/officeDocument/2006/relationships" id="258" r:id="Rd027ff05a743408e"/>
    <p:sldId xmlns:r="http://schemas.openxmlformats.org/officeDocument/2006/relationships" id="259" r:id="R741ac93e62fd4402"/>
    <p:sldId xmlns:r="http://schemas.openxmlformats.org/officeDocument/2006/relationships" id="260" r:id="Re4c8d596456c47a4"/>
    <p:sldId xmlns:r="http://schemas.openxmlformats.org/officeDocument/2006/relationships" id="261" r:id="R172a75d29ca84cd8"/>
    <p:sldId xmlns:r="http://schemas.openxmlformats.org/officeDocument/2006/relationships" id="262" r:id="R450f65e450af419f"/>
    <p:sldId xmlns:r="http://schemas.openxmlformats.org/officeDocument/2006/relationships" id="263" r:id="Rf0b15fb322f946bb"/>
    <p:sldId xmlns:r="http://schemas.openxmlformats.org/officeDocument/2006/relationships" id="264" r:id="Re56860f450634456"/>
    <p:sldId xmlns:r="http://schemas.openxmlformats.org/officeDocument/2006/relationships" id="265" r:id="R66b5a51cd68940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252302e424b2d" /><Relationship Type="http://schemas.openxmlformats.org/officeDocument/2006/relationships/theme" Target="/ppt/theme/theme1.xml" Id="R925c34cdf1bc414a" /><Relationship Type="http://schemas.openxmlformats.org/officeDocument/2006/relationships/notesMaster" Target="/ppt/notesMasters/notesMaster1.xml" Id="Rbd73811c2e304afc" /><Relationship Type="http://schemas.openxmlformats.org/officeDocument/2006/relationships/presProps" Target="/ppt/presProps.xml" Id="R43ec6b85bf854a50" /><Relationship Type="http://schemas.openxmlformats.org/officeDocument/2006/relationships/viewProps" Target="/ppt/viewProps.xml" Id="Rfd28bd96168a4c75" /><Relationship Type="http://schemas.openxmlformats.org/officeDocument/2006/relationships/tableStyles" Target="/ppt/tableStyles.xml" Id="R06690b1f8d664ffb" /><Relationship Type="http://schemas.openxmlformats.org/officeDocument/2006/relationships/slide" Target="/ppt/slides/slide1.xml" Id="Rebb6c08b27464f68" /><Relationship Type="http://schemas.openxmlformats.org/officeDocument/2006/relationships/slide" Target="/ppt/slides/slide2.xml" Id="R9025aae2308847c6" /><Relationship Type="http://schemas.openxmlformats.org/officeDocument/2006/relationships/slide" Target="/ppt/slides/slide3.xml" Id="Rd027ff05a743408e" /><Relationship Type="http://schemas.openxmlformats.org/officeDocument/2006/relationships/slide" Target="/ppt/slides/slide4.xml" Id="R741ac93e62fd4402" /><Relationship Type="http://schemas.openxmlformats.org/officeDocument/2006/relationships/slide" Target="/ppt/slides/slide5.xml" Id="Re4c8d596456c47a4" /><Relationship Type="http://schemas.openxmlformats.org/officeDocument/2006/relationships/slide" Target="/ppt/slides/slide6.xml" Id="R172a75d29ca84cd8" /><Relationship Type="http://schemas.openxmlformats.org/officeDocument/2006/relationships/slide" Target="/ppt/slides/slide7.xml" Id="R450f65e450af419f" /><Relationship Type="http://schemas.openxmlformats.org/officeDocument/2006/relationships/slide" Target="/ppt/slides/slide8.xml" Id="Rf0b15fb322f946bb" /><Relationship Type="http://schemas.openxmlformats.org/officeDocument/2006/relationships/slide" Target="/ppt/slides/slide9.xml" Id="Re56860f450634456" /><Relationship Type="http://schemas.openxmlformats.org/officeDocument/2006/relationships/slide" Target="/ppt/slides/slide10.xml" Id="R66b5a51cd68940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05b1ad923c4c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d002212b0d4f42" /><Relationship Type="http://schemas.openxmlformats.org/officeDocument/2006/relationships/notesMaster" Target="/ppt/notesMasters/notesMaster1.xml" Id="R745fba8dee7544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b7e9c2eb9c4f3f" /><Relationship Type="http://schemas.openxmlformats.org/officeDocument/2006/relationships/notesMaster" Target="/ppt/notesMasters/notesMaster1.xml" Id="R79bea798aa54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1241f3255945a7" /><Relationship Type="http://schemas.openxmlformats.org/officeDocument/2006/relationships/notesMaster" Target="/ppt/notesMasters/notesMaster1.xml" Id="R48bd486705f042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11b62dbac2441a" /><Relationship Type="http://schemas.openxmlformats.org/officeDocument/2006/relationships/notesMaster" Target="/ppt/notesMasters/notesMaster1.xml" Id="Raaf6bea074d141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bfa439aa974879" /><Relationship Type="http://schemas.openxmlformats.org/officeDocument/2006/relationships/notesMaster" Target="/ppt/notesMasters/notesMaster1.xml" Id="Rd6a285ff9e32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bc0aeac2f9476d" /><Relationship Type="http://schemas.openxmlformats.org/officeDocument/2006/relationships/notesMaster" Target="/ppt/notesMasters/notesMaster1.xml" Id="R744191ec26394e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5d702de4742d0" /><Relationship Type="http://schemas.openxmlformats.org/officeDocument/2006/relationships/notesMaster" Target="/ppt/notesMasters/notesMaster1.xml" Id="R8cd92831b977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7e2841ea634b1a" /><Relationship Type="http://schemas.openxmlformats.org/officeDocument/2006/relationships/notesMaster" Target="/ppt/notesMasters/notesMaster1.xml" Id="R0fb15812a7ec49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a0f6d4ea9041dd" /><Relationship Type="http://schemas.openxmlformats.org/officeDocument/2006/relationships/notesMaster" Target="/ppt/notesMasters/notesMaster1.xml" Id="Rfb8413e1fab743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0dd055df794b22" /><Relationship Type="http://schemas.openxmlformats.org/officeDocument/2006/relationships/notesMaster" Target="/ppt/notesMasters/notesMaster1.xml" Id="R5cccd680da7c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9afd40589403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e21a4b17fc407b" /><Relationship Type="http://schemas.openxmlformats.org/officeDocument/2006/relationships/slideLayout" Target="/ppt/slideLayouts/slideLayout2.xml" Id="R48f21d1e8936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21d1e8936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d5b57676f4438" /><Relationship Type="http://schemas.openxmlformats.org/officeDocument/2006/relationships/notesSlide" Target="/ppt/notesSlides/notesSlide1.xml" Id="R183ea3f9d4a242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f64443238d4d29" /><Relationship Type="http://schemas.openxmlformats.org/officeDocument/2006/relationships/notesSlide" Target="/ppt/notesSlides/notesSlide2.xml" Id="R35daaf662f4f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f52b010f8435a" /><Relationship Type="http://schemas.openxmlformats.org/officeDocument/2006/relationships/notesSlide" Target="/ppt/notesSlides/notesSlide3.xml" Id="R3693e63892a149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1bc5382f044a5d" /><Relationship Type="http://schemas.openxmlformats.org/officeDocument/2006/relationships/notesSlide" Target="/ppt/notesSlides/notesSlide4.xml" Id="R74c0d0d3a3f147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a180525cf49d4" /><Relationship Type="http://schemas.openxmlformats.org/officeDocument/2006/relationships/notesSlide" Target="/ppt/notesSlides/notesSlide5.xml" Id="Rbbb15e77842149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fff2e23694ed9" /><Relationship Type="http://schemas.openxmlformats.org/officeDocument/2006/relationships/notesSlide" Target="/ppt/notesSlides/notesSlide6.xml" Id="R76474bbd1b19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c5ab1ea71400a" /><Relationship Type="http://schemas.openxmlformats.org/officeDocument/2006/relationships/notesSlide" Target="/ppt/notesSlides/notesSlide7.xml" Id="Rbfe1cdade12e45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fefc60cd7c4f79" /><Relationship Type="http://schemas.openxmlformats.org/officeDocument/2006/relationships/notesSlide" Target="/ppt/notesSlides/notesSlide8.xml" Id="Rb26706b2151646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f815be1cdf4f23" /><Relationship Type="http://schemas.openxmlformats.org/officeDocument/2006/relationships/notesSlide" Target="/ppt/notesSlides/notesSlide9.xml" Id="R2c87af5cd9f940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e738e0a484002" /><Relationship Type="http://schemas.openxmlformats.org/officeDocument/2006/relationships/notesSlide" Target="/ppt/notesSlides/notesSlide10.xml" Id="R8628962e3bf7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E98EC-A74C-4CF6-AB55-20C7A1D4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B750D-2191-40E9-BFB2-540089C2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/ DOCUMIND RAG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59DF5-2807-4B86-B2A0-0FC7408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검색은 됐는데</a:t>
            </a:r>
          </a:p>
          <a:p xmlns:a="http://schemas.openxmlformats.org/drawingml/2006/main">
            <a:pPr algn="l">
              <a:defRPr sz="36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답변은 왜 틀렸나?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18E8A-8BEF-4E63-B76F-282FC09D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DE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문제는 모델 크기보다 evidence(근거)의 모양이었다.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87261-1081-4BA4-889D-EE80B0CD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25FD9-2C9C-4F36-9B54-70D24BA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66825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2~3/8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3B1A6-4D51-4160-B853-2C9BDB6A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6687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답변 통과율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14B7-8184-470C-B5F7-2950EF5F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0FBBE-479E-4F83-B2FE-527F9157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33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FF191-9802-4866-8968-16B61766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12395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CD6C3-19D4-47CF-8949-9AFDA575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66825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7/8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AD83B-FCCA-4908-A617-4F451906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6687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개선 후 대표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0FA1A-4FBD-40E2-937B-8A29F2C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3DA1E-8127-4FA9-A007-8F765835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24125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8/8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20726-0B93-470A-A200-47E66C0D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24175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trace는 계속 통과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D669A-019D-4136-B54A-8E118B8E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0572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347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F50DC-5B9E-4E83-B1BC-B2C23FC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6"/>
          </a:solidFill>
          <a:ln xmlns:a="http://schemas.openxmlformats.org/drawingml/2006/main" w="0">
            <a:solidFill>
              <a:srgbClr val="1C2B3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5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이번 작업의 한 줄 결론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D2246-65DF-447A-9129-452C914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6"/>
          </a:solidFill>
          <a:ln xmlns:a="http://schemas.openxmlformats.org/drawingml/2006/main" w="0">
            <a:solidFill>
              <a:srgbClr val="1C2B3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LLM을 바꾸기 전에 PDF를 LLM이 읽을 수 있는 구조로 바꿨다.</a:t>
            </a:r>
          </a:p>
          <a:p xmlns:a="http://schemas.openxmlformats.org/drawingml/2006/main">
            <a:pPr algn="l">
              <a:defRPr sz="210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표, 범례, 2단 카드, 라벨-값 관계를 보존하고 질문에 맞는 근거만 압축해 전달했다.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A6769-A113-4092-9958-899B9429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39619-B385-40C4-A81B-04C67F3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483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evaluate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71124-610F-4FB9-AE4A-96958576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816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B43EC-C2CE-49D6-B7FE-A371C892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483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chunk 진단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FBE0D-3BFB-4308-8D5E-88661759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81650"/>
            <a:ext cx="971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34EAB-CAC1-44F1-95C0-BD6731F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483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14400-9D3B-414B-8F59-EBF8FB3B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816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234CA-AE5F-49B1-B19B-7C440067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483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table_fact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DF77A-084E-4C6F-B8D3-D5997E4D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73CEF-B9C7-4046-8F88-DC595E5A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483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evidence focus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0068D4-7DAA-4BE7-80B5-12F4014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6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범위: 이슈 #18 RAG 평가 루프, PDF layout/table 청킹, 근거 압축, 실패 시도와 되돌림까지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A9D67-70F6-4D33-9D37-D3D2174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6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313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28907-0073-4471-8C0E-631BD4E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24AFF-1DEB-491E-A51A-68300101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 / 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B8732-2710-4985-9899-9CFE2759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실패를 검색 문제와 답변 문제로 분리했다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31BA8-D17A-4172-A1E1-3B908538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B7B64-10C5-4217-BBA1-EA67E44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 실패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CBF8-31C4-41A3-8CFA-BC482196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05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98BA1-56FD-484B-BF00-32D91F9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06FBF-E824-44A1-849F-4A92A097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1695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08E51-F0F9-42BF-91E2-6CB58624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42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근거가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들어왔나?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75E30-E2BC-4486-8729-6B361881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35972-6FAF-4F87-95EC-E6981AE8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924050"/>
            <a:ext cx="285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8CF03-13A9-433E-B501-BDCD3B50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92405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8F2E1-BA38-40B4-A245-65EB4072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76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34EB7-88A6-4E82-9B21-91387EC4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5B5EA-B9E8-4C7F-982C-A607E1E8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05075"/>
            <a:ext cx="285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6F172-9585-4371-B182-6FAFD76F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0515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0CE89-E990-420B-8219-D14C5EC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EA77C-3A6B-426A-9CE9-4E774D2B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1CD2E-D055-4523-AFF0-9AF528DE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아니오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retrieval 문제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A6948-67F9-4E3C-A189-FBECE1E6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58BEC-813B-4E16-93AD-879FE739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956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예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answer 문제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D7477-77CE-46E3-AE58-E9F9BC55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3372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27205-B10E-4E04-AA26-BE979878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338C4-FF48-4E0F-8DAC-0D72861B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A40D1-D603-4B15-A90D-0346DC11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근거는 맞는데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답변이 틀림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CCAE88-C0A4-442D-B396-976BF03F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73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A1C04-8E89-4EA2-96D8-6A188E03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관찰 결과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4A1E4-17F0-4B0C-B6D4-4B7BB40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trace(검색 근거)는 8/8로 통과했는데 answer(답변)는 2~3/8까지 떨어졌다.</a:t>
            </a:r>
          </a:p>
          <a:p xmlns:a="http://schemas.openxmlformats.org/drawingml/2006/main">
            <a:pPr algn="l">
              <a:defRPr sz="142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즉 ChromaDB가 아예 못 찾은 문제가 아니라, EXAONE이 받은 문맥에서 정답 행·열·카드를 구분하지 못한 문제였다.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5B70E-97D5-4416-98DB-07865D60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6720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C3548-A214-4B6B-8655-3C268452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10075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 8/8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805E8F-47A6-49C5-8471-28768099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10125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후보 존재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F21FB1-DCB9-405E-B2FD-3EEF789F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도구: ai-server/evaluate_rag.py, rag_quality_questions.json, /debug/rag-trace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EA3A02-82E5-4C00-A977-BF688D4F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1405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04FD99-61F2-4923-B926-BA48E79D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BD2F1-3B9C-4D72-8A40-FCA1B3C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 / 원인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159D4-6D4C-4F22-A1E0-4A495AAF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평면 Markdown은 문서 구조를 잃어버렸다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69996-D28C-4FEC-89DB-1A3D5C3B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parser 결과가 텍스트로는 보이지만, RAG가 필요한 관계는 사라졌다.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22076-D9F7-4406-9FA8-24373BF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0A50-C80C-4B53-A777-91BD7751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문서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3AF06-F628-4ECF-AE41-61B1E1D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raw chunk에서 보인 현상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40F4D-AF5D-443C-A935-DB9597C4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필요한 보존 방식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DB83E-E97B-4A9B-A6CD-985F015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54C78-DAC4-4755-88D1-3D36B31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B540E-C488-4C87-AFF1-EF908F91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E8EC7-E465-49D9-8F39-2D4D0E6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2단 학과 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4AC07-DF14-4816-8AE6-D946646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좌우 학과 설명·교과목·취업처가 한 청크에 섞임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20C93-3A6F-4F1C-B45F-0C68FE8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193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열 제목과 라벨을 붙여 별도 근거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68346-D7DC-4C25-B2B1-1FDDD47D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9BEC4-4757-4632-A14F-AA10959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86CBC-A248-4EB7-A0B3-22BDB4E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37D51-B644-48CE-AE8C-F98E7CF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모집인원 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3E3AE-89A9-4856-913F-B4FE7487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289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학과명, 모집정원, 수시/정시 열 관계가 약해짐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AEFC0-087F-421D-BE9D-58016EB2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289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table_fact로 행-열-값 문장화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A48DF-FDE8-4550-8EBD-968CF4CC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6C067-ECFF-48A2-AB92-ECFD881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FEB50-4038-43D7-B4BA-3008B763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C3271-D906-46E2-93F6-09D615F2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2B4CB-5082-4C44-865A-41C97393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385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♣ 표시 의미와 전체 학과 목록이 분리됨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FB410-81CD-4A32-98E4-4586709B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385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범례 조건을 만족하는 row subject 집계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01D28-CFCD-4049-A83D-31549288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3A2EE-1938-443D-8330-48C277FD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243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7EE06-AFE3-4889-BD82-1C4723D9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243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345C99-8E74-4AC6-9B89-18501451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라벨-값 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85ADF-D361-4B67-B800-B9F2C78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결석일수 0일과 가산점 20점 관계를 못 읽음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2BA4B-5C88-4890-9156-8E57F31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48175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0">
            <a:solidFill>
              <a:srgbClr val="F5EC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header label과 value label을 쌍으로 압축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4B50B-103A-4DD4-A1E2-70D196E4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1C7"/>
          </a:solidFill>
          <a:ln xmlns:a="http://schemas.openxmlformats.org/drawingml/2006/main" w="0">
            <a:solidFill>
              <a:srgbClr val="B9C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01070-01AC-4A78-B0A4-597BB3B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판단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E0909A-9C08-4292-A0E0-A6EABB12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054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청킹 품질은 글자 수 문제가 아니라 관계 보존 문제였다.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83ADD8-9E80-4489-A57B-BA6F600A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관찰 샘플: 주요 취업처 주요 취업처, 주요 교과목 주요 교과목, MBTI 장식성 짧은 청크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0BA91B-BD08-4809-ACB2-31F73E7A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4701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D4963C-E880-485D-A5E3-F886CA27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427BC-62AB-4BE5-AC43-FE68607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 / 참고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31CFA-DA11-475D-8364-DC53452D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대기업 사례도 같은 방향을 말한다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253F3-3AAA-47A6-A418-C28C2AA0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5D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02CD6-E301-4A02-AEB1-6A21551C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DC0C5-6C23-4E7D-9424-718A35C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Microsoft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9CB64-18B2-4705-91C1-23D835BC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Document Intelligence RAG: 표와 문단 구조를 보존해 chunking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47398-FE1A-49B9-95B2-71F62D9A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7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DFFFE-8A03-4C47-B2EF-2096B008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9F021-4563-4E77-82C7-22D1D010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97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Google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12682-E826-4521-8C17-0DF0D14F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Document AI Layout Parser: text/table/list 단위와 context-aware chunk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0CAF4-56DA-42F6-B742-1C2B512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5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2E503-7157-46C0-95D1-FD8326CD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9C94D-09E5-49F9-B973-38E8C55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97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Anthropic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8751F-B4E9-4525-874D-F7AD1AD7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Contextual Retrieval: chunk에 문맥을 붙이고 BM25+embedding 결합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D8775-AF3E-42E3-A173-47231EAA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95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CC106-F708-4E8D-AFA2-36A56840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073D0-51DC-47BD-B6F5-E3CB394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NVIDIA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012AB-A820-4A60-9476-F5AA67A9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Enterprise RAG Blueprint: text, table, chart, image를 분리 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6629D-49BC-46B3-9A6B-0C23CF1F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5D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E52F5-EE31-476A-924C-789373DF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C81B6-D0C6-420B-A330-65CE42EB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9567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IBM Docling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2EEAA-7E11-4312-96C0-25D9122D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481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 analysis와 table structure recognition을 별도 계층으로 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CF234-7573-462A-BF53-09D445B7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238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7A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3ACB0-EFCC-4014-9C5D-495BD130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E9FF35-8066-4353-B33B-F7BBDA0C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Google Grounding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613C0-84DB-4FBC-B650-1927D763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 claim이 facts로 뒷받침되는지 검사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0ED68-32F4-4740-B0D9-76EFB76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62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FBF6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4656D-FDA9-42A0-9579-BE4A23E7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0">
            <a:solidFill>
              <a:srgbClr val="FDFBF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적용 원칙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9632B9-55D1-4882-B4E7-D47CDCA7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0">
            <a:solidFill>
              <a:srgbClr val="FDFBF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문서를 평면 텍스트로만 저장하지 않고, layout(배치)과 table structure(표 구조)를 검색 가능한 근거로 분리한다.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A09FA-E489-4FA3-9552-E34BD25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참고: Azure AI Document Intelligence, Google Document AI/Vertex AI Search, Anthropic Contextual Retrieval, NVIDIA RAG Blueprint, IBM Docling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C3EFCF-B2C5-4F13-B4CA-521EBBF3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5987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C8C88-BA4E-4FC1-BA49-F3A01994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3EAC1-053E-4C22-9395-EB3537D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 /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15E46-F0A3-4074-9B7C-33D2CE4D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단위와 답변 근거를 분리했다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D474C-ABD5-4D1B-93F3-8D9B3DC9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238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3A0A9-B11D-4452-BF18-7E005DC4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PDF 업로드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27F55-F7D1-4E2A-8938-FAD94D47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336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B1EE-8ABF-48B6-BCB0-D5C0AE7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831DD-112E-4C40-ACDF-E2A1D455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05000"/>
            <a:ext cx="1485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98CA6-670A-483C-AD22-BFFB29DF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1219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Markdown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 JSON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079B6-AE46-4C9C-9EBE-9B1EEE20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F20BF-027A-4BE9-9DA3-1A4B2BA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1C17D-396B-4096-A3C8-DBDD23D9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FA57D-CF5D-408F-95E1-DEC2C34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cleanup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빈 표·반복 제거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2FBFE-F37C-4E86-B0E9-4B804265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89F6F-933B-499A-BA27-597B50D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8B579-C9C9-4977-99C9-B9326EA7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A32C2-3F67-4C09-A2AB-C47C4CAD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76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B1DBA-2895-44B0-ADD0-EB959DA1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F8382-A273-4A37-A6C2-EF1A1C6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4248E-C0E9-4BB8-AC70-4A83BD13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7A49F-C561-4CCA-B4B3-15FAC6D0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46909-E09E-4162-A41E-9E60AFF4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3676A-A6BA-4B91-AD77-11F3C81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75499-59C1-484E-A9C5-AF230F4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192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200E7-9437-4C08-B501-5A67D38C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chunk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4E85A2-590F-4FD1-84F8-72FA61B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DD57A-B2ED-4690-85FE-C387C20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table_fact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7005D-231B-4245-8F0C-16EB8936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65348-A91A-463C-B00A-AA16883C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layout_parallel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D5483-8E93-4E9C-8762-2F64FA44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176BC7-C30F-4C59-A50A-6627F512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24000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3CDC02-6F6E-4218-991B-554D57F6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336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24AEC-D01D-4F8B-A68C-732EBF3A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3A7211-E50A-4F89-9EDA-E401F127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319DA6-16CF-47A1-B248-3B677C3C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CBD446-7CF6-4B51-A3A3-0EA78B7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9EE92-1E09-4125-AC55-B80D8219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33625"/>
            <a:ext cx="285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57C26F-2F1C-44C1-8FEF-B98EF18E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336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9B0A6D-C176-4A71-A0C2-2FD27A44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47A058-05DE-400A-8951-3A40BCE2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1352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ECD8"/>
          </a:solidFill>
          <a:ln xmlns:a="http://schemas.openxmlformats.org/drawingml/2006/main" w="9525">
            <a:solidFill>
              <a:srgbClr val="C8952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32F8C1-5313-41CF-A90C-7F8FC59D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0">
            <a:solidFill>
              <a:srgbClr val="F5EC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ChromaDB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998E44-C029-45DE-B600-A4A806E2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336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FC7C99-AEE7-42EF-BF14-3A99F96A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33844F-48DD-4AD6-A97A-47883B80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905000"/>
            <a:ext cx="11620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231383-6953-4D80-990B-58F8D0F4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038350"/>
            <a:ext cx="895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압축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963CCB-EA06-4D88-B03F-23E5A17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981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0C8EFB-12C4-40ED-8757-F3EDE92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 시에는 전체 원문을 다 넣지 않는다.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B71EB6-537F-4C73-B6CE-7AC3344E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 subject(주어)와 attribute(속성)가 맞는 structured facts(구조화된 사실)를 먼저 넣고, raw chunk는 출처와 보조 근거로 남긴다.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3CE852-6AAC-4FA3-9893-E6EA2D93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파일: ai-server/main.py, ai-server/layout_blocks.py, ai-server/check_chunks.py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A3676D-75F1-4045-9687-0731882D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3590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C9FE9-D160-4DBF-9AD8-6DF38B7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6B618-D60F-43B6-8B70-09783A4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 / 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D09A9-BA27-4761-88AE-CDB6252B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보이지 않던 품질을 숫자와 trace로 보이게 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CB6FF-37D8-4847-9995-DD9CDC4D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FB9F0-7E9C-44B8-A07D-70FBF401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check_chunks.py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저장 청크/품질 진단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2C01D-6904-440C-82F3-012E612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479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DA639-223B-47A9-81B1-D5912937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C74E7-2FA6-48E7-BD0C-40B3009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2A7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A4F9-63B6-4C64-8B9D-31A8296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debug/rag-trace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단계 추적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4C8BA-C10A-4E39-9E3D-2548C40E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479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B1AD5-8B5D-4B54-B2BD-4DA8EDE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0386B-101F-4871-8F77-A6BB0845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A21D8-C8D2-4761-BCA7-8DE270E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evaluate_rag.py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답변/출처 자동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5A8F9-56CB-475E-B7B8-A407C2C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479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437F5-49AA-43E2-89C4-7E48A77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3AB68-60D5-4657-9A05-297D72F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BD837-4074-4C5E-890D-1D69BDD4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JSON/CSV output</a:t>
            </a:r>
          </a:p>
          <a:p xmlns:a="http://schemas.openxmlformats.org/drawingml/2006/main">
            <a:pPr algn="ctr">
              <a:defRPr sz="12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상세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4D937-46E1-4526-8660-132915C4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053F1-1D6A-4BDC-88B5-C64C1815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121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3850E-D134-4F30-905D-A79731CD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관리자 화면 chunk와 일치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36586-04DB-4252-B5E1-3C4F47A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69EDD-4272-4ADA-A00E-91D712D8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 342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5B16E-1B3A-4A56-B19C-7D8EC79F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 구조화 사실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D2838-8F52-4FAE-BAD0-216A1E8B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60F8E-A909-421B-ABBE-6A2E96A3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 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8B721-469A-4FBF-8E7F-999CD337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2단 카드 보조 청크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FD7F7-154E-46C5-BB88-07A1C52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719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5C4E4-A5E1-4636-AA38-8D9CB8C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147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7/8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C2704-85E2-4EE6-B6C1-B2A587B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148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대표 평가 통과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C2FAB5-2D76-4FD5-A2B8-E5C18C49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왜 중요했나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62479-88E2-41E4-B86D-A5FD3CF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435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이전에는 “왜 틀렸는지”를 로그에서 감으로 봤다. 지금은 검색 후보, 최종 context, missing keyword, forbidden hit를 분리해서 확인한다.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03FD6-70AD-4BEE-9837-52707689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대표 명령: python evaluate_rag.py --include-query --case-id ... --output /tmp/result.json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C8831-2460-4DF0-AD5B-19C90970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1330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9295D-CEFF-4135-95F4-1BA1924E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5BF1D-4EE9-4E7E-A6AE-5205EE35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 / LAYOUT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5C7F6-AC6C-4EE3-ABE4-827064A2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2단 카드 문제는 layout 보조 청크로 풀었다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23C21-2220-4AC3-B041-00129A4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4577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EC67B-4B9E-4FCB-A0E6-49BCD2C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PDF 51페이지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4E6AF-7467-4FB5-BD4E-B654D21A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98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19050">
            <a:solidFill>
              <a:srgbClr val="0B5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4D55D-0E4C-4452-B309-67096D51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098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19050">
            <a:solidFill>
              <a:srgbClr val="C75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BEAD8-6E8A-4FE6-A5E8-DC53C893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컴퓨터정보공학과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교과목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취업처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EE85E-383E-4215-8968-9C071677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컴퓨터시스템공학과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교과목</a:t>
            </a:r>
          </a:p>
          <a:p xmlns:a="http://schemas.openxmlformats.org/drawingml/2006/main">
            <a:pPr algn="ctr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주요 취업처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17F41-C486-4756-B5AE-0F4691F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Markdown에서는 좌우가 한 문단처럼 섞였다.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5184B-068D-4E84-B68A-5A84C150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7389A-28DF-47AC-B3BD-235FCBB7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963"/>
          </a:solidFill>
          <a:ln xmlns:a="http://schemas.openxmlformats.org/drawingml/2006/main" w="0">
            <a:solidFill>
              <a:srgbClr val="4B59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A45FF-2117-4481-A598-FE84314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2F38D-1B8F-40D2-9345-726E93D2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layout_parallel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76ACF-4B7D-49C9-B62C-7C3AF79C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3714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열 1 제목: 컴퓨터정보공학과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교과목: 자료구조, 데이터베이스...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취업처: 레인보우 브레인, 퀸텟시스템즈...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열 2 제목: 컴퓨터시스템공학과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교과목: C/C++/자바...</a:t>
            </a:r>
          </a:p>
          <a:p xmlns:a="http://schemas.openxmlformats.org/drawingml/2006/main">
            <a:pPr algn="l">
              <a:defRPr sz="1275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 주요 취업처: 제너셈, 와이즈와이어즈...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B03F6-9BB1-4937-822C-F8874FA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97FD5-0D0B-4532-B9A1-448FD060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386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bbox coverage 1.0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2D2CC-8BFF-49DB-9CA8-96591C4E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584C0-2AA9-457C-B358-2F8A4F94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confidence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729D4-275F-4FAC-8152-5649C24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구현 원칙: 기존 raw chunk를 지우지 않고, 안전 판정된 layout 보조 청크를 추가했다.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7D2CE-75D2-432C-8B0F-26696B5E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9559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CBFAE-53DB-40B3-896C-967FF8B4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3EF1D-5E2F-46AD-A1C0-463FAC4F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 / TABLE/EVIDENCE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B4893-C94B-42AF-9258-E6A6B0B9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표는 ‘보이는 모양’을 사실 문장으로 바꿨다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6677F-D14C-439A-9E11-DD0E745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4286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91BE5-05FC-4D7F-BCE0-A48E7B5C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A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범례형 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DBE65-295A-4CFC-914E-9ACE5C3A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♣ 표시: 4년제 학사학위(전공심화)과정 개설 학과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42883-9416-4C15-8819-506D8C63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로봇자동화공학과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자동차공학과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전기공학과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컴퓨터정보공학과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컴퓨터시스템공학과 ♣</a:t>
            </a:r>
          </a:p>
          <a:p xmlns:a="http://schemas.openxmlformats.org/drawingml/2006/main">
            <a:pPr algn="l">
              <a:defRPr sz="150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D5ACE-6221-41E1-8321-D46941B6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02E8F-0C70-4969-B010-5A8292E8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053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legend aggregate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D4215-09DB-48BE-AA85-FF54C057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57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조건을 만족하는 row subject를 모아 목록 근거로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ADCB4-8AB3-463E-A6E9-B475CE72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90700"/>
            <a:ext cx="47625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963F6-9D3D-41E1-AD31-61AD6275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57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라벨-값 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7BA8F-E7DD-4260-81FE-9A2106B9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51552-11F6-43C2-A0B7-E85B3987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결석일수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B5606-1A99-4790-87D4-6D6D9717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BE427-1AA0-4960-8766-15343398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77561-695A-45A1-806D-8B8A90D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C223E-502F-4F05-AB2D-A91DF624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3FB65-85C5-4E36-8DD2-CFFB4B0A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10일 이상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44C9C-9003-455A-AB21-C2071333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5D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FC55F-517A-4843-AEFE-7A7C9C1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가산점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4EF62-9123-468E-AC97-02DA04FF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20점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A1713-E1BA-4429-9DA0-29F1DE2E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18점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FFEFE-2BA2-4B23-8141-ED70CECA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16점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FC159-D43E-411A-A8DA-A34A9BED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14점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01201-9106-4E7F-9735-6D9A222F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61A879-6E38-4E20-85AD-92560BDC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2905A-0DCD-4DA0-9DAB-A6398A1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52948-44C6-44E2-89B0-794CAADB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32EDA-DFDF-4068-87F6-DB3670CD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BAB59-9B40-4777-84E4-FCD0C46A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333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C755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79221-1E6C-4091-A480-E9E0E3D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출결상황 가산점: 0일=20점; 1일=18점; 2일=16점; ...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67113-210D-4186-B537-8F2689F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A5E5ED-0C7C-42E0-9CCE-F0B6313F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label-value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8F7BF-C918-4A51-BFD6-FAB31E84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smoke test 완료: legend aggregate, label-value table evidence. GCP 실문서 재색인 검증은 다음 단계.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0691A4-AED1-4BDC-960E-AA68FBAF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0506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57DB5-BBB2-48CB-9B57-5DB7E6C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EF4CB-B63F-4B7B-A6B8-9A767209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D7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 / 되돌림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A0047-DE34-4E73-BF3F-83BC7B38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잘 맞아도 하드코딩이면 되돌렸다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62AB-22F4-4676-9839-6828F3C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79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01936-4F93-4D3B-B6A1-F2C9C64B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05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C8E42-1759-46E1-9F90-20BC61D8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위험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4927F-2BE2-40A5-80E3-0BF3A46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858F9-560B-4C64-892A-52E80AF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9123A-A264-4827-9BBC-3D617C10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04101-2F72-4FFA-808F-EFEFBC09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48345-2FE1-4B72-BF6E-553DC397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card_fact 1차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991FB-C72E-4046-83B4-98DF36DE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339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특정 학과 소개 카드에만 강하게 맞는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9BA3B-68B8-4CBF-8351-CE53A996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241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2"/>
          </a:solidFill>
          <a:ln xmlns:a="http://schemas.openxmlformats.org/drawingml/2006/main" w="0">
            <a:solidFill>
              <a:srgbClr val="DDEBF2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general layout layer로 전환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166DC-BF39-4424-AEFA-BB543FE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ED2AA-56F2-482D-8717-12D704D2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D1D2B-1E10-4B79-9C88-FBC8E37B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724BC-E19B-4FB0-A521-6901A3F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문자열 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52F01-635B-4870-8C80-F9DB745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339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‘주요 취업처 주요 취업처’ 같은 패턴 의존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CB83A-A7AF-477E-AD76-67F40228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14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3"/>
          </a:solidFill>
          <a:ln xmlns:a="http://schemas.openxmlformats.org/drawingml/2006/main" w="0">
            <a:solidFill>
              <a:srgbClr val="DDECE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parser/layout 기반으로 대체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302A5-2315-48AB-B450-5823BB11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B21A0-C3EF-44F6-B2E6-72824E1A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3D143-602D-40C2-B84A-6DB75980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A62D7-D3A7-4BAD-AF7E-2D4C6F8A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employment intent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6DB1E-D283-41A6-B430-D5898FD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339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취업처 단어를 intent로 박으면 범용성이 낮음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3B917-093B-443E-B79D-D2DC75D7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05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동적 label 후보 방식으로 정리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E3740-1B30-4871-B088-271C3783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457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D8963-38A8-4EB0-97F1-477CFE12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03A45-6724-4556-B41A-E8C3F5B9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73B64-7F80-4264-97EF-8732D44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약어 alias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3569B-DB4C-4B4C-9C61-6BADB33C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339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컴정 같은 약어는 문서별/학교별 충돌 가능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4E658-DE60-444C-8865-4826A54D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CD8"/>
          </a:solidFill>
          <a:ln xmlns:a="http://schemas.openxmlformats.org/drawingml/2006/main" w="0">
            <a:solidFill>
              <a:srgbClr val="F5ECD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이번 범위에서 revert, 후속 subject catalog로 분리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B00E6-989F-4D4E-8268-4E3EA412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895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1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77DDE-4C00-4763-8926-5B23432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53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55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원칙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E8D34A-F773-47D2-8E06-BF31A654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149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특정 모집요강을 맞추는 코드가 아니라, 다른 표와 문서에도 적용되는 구조화 규칙만 남긴다.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F00CC-436E-433C-8D82-9909F802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되돌린 예: 색인 주어 기반 약어 확장 적용 커밋은 Revert 처리. 약어는 다음 이슈로 분리.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57C192-9575-4CE2-B82D-8940A91C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9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05756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4A783-5F84-4F27-8131-BDA65EDC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2454D-19C0-4981-AA94-B8888A9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 / 결론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7268C-FE64-41C0-B7C8-42865D4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결론: RAG 품질은 근거 구조가 결정한다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55D50-DDF4-457A-91D0-6B0A2E26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79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07906-3740-41D4-8591-126FFC89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5E9FD-4640-46E0-91D7-4C8E75E8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A5E"/>
          </a:solidFill>
          <a:ln xmlns:a="http://schemas.openxmlformats.org/drawingml/2006/main" w="0">
            <a:solidFill>
              <a:srgbClr val="2A7A5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대표 평가 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C6C4E-4696-4B6A-BB9B-8D63ADAA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B8EFB-E82A-448E-B8CA-C9E2B8D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0275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09F2B-3241-469E-96F1-F3B0B0DF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032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53A"/>
          </a:solidFill>
          <a:ln xmlns:a="http://schemas.openxmlformats.org/drawingml/2006/main" w="0">
            <a:solidFill>
              <a:srgbClr val="C7553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남은 실패: 약어/모집정원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5EA1B-3F91-47BC-B1D9-1F07D8CB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57400"/>
            <a:ext cx="2152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48C0A-D8D3-40C2-991E-95123F69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00275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3계층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DB22A-40A9-41CA-8A88-84F62F7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0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E"/>
          </a:solidFill>
          <a:ln xmlns:a="http://schemas.openxmlformats.org/drawingml/2006/main" w="0">
            <a:solidFill>
              <a:srgbClr val="0B5D7E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+ table + layout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5904A-404B-47C9-859A-3152AEF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1981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1BB67-4E65-4564-B222-D7BF907E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02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5C08F-D477-448E-BD66-75D757AF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0325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52C"/>
          </a:solidFill>
          <a:ln xmlns:a="http://schemas.openxmlformats.org/drawingml/2006/main" w="0">
            <a:solidFill>
              <a:srgbClr val="C8952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남길 하드코딩 원칙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9DDDF-9B79-4B7C-8B79-8F8F8B22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247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23D"/>
          </a:solidFill>
          <a:ln xmlns:a="http://schemas.openxmlformats.org/drawingml/2006/main" w="9525">
            <a:solidFill>
              <a:srgbClr val="526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D31DD-EE5A-4CF1-96ED-A46EB2FC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3D"/>
          </a:solidFill>
          <a:ln xmlns:a="http://schemas.openxmlformats.org/drawingml/2006/main" w="0">
            <a:solidFill>
              <a:srgbClr val="20323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 GCP 최신 코드 재색인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5B303-2A98-4C01-8CA0-0A7A96C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338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6A3"/>
          </a:solidFill>
          <a:ln xmlns:a="http://schemas.openxmlformats.org/drawingml/2006/main" w="0">
            <a:solidFill>
              <a:srgbClr val="8096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1F227-6121-4322-BBC2-14B02F3D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6A3"/>
          </a:solidFill>
          <a:ln xmlns:a="http://schemas.openxmlformats.org/drawingml/2006/main" w="0">
            <a:solidFill>
              <a:srgbClr val="8096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5278F-A59C-4824-BC21-B9B6FE5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2400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23D"/>
          </a:solidFill>
          <a:ln xmlns:a="http://schemas.openxmlformats.org/drawingml/2006/main" w="9525">
            <a:solidFill>
              <a:srgbClr val="526B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D5759-2D73-44E0-B627-93A37BCA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81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3D"/>
          </a:solidFill>
          <a:ln xmlns:a="http://schemas.openxmlformats.org/drawingml/2006/main" w="0">
            <a:solidFill>
              <a:srgbClr val="20323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2. 표/범례 평가 케이스 확대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30F16-8781-4470-8F74-7023396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6A3"/>
          </a:solidFill>
          <a:ln xmlns:a="http://schemas.openxmlformats.org/drawingml/2006/main" w="0">
            <a:solidFill>
              <a:srgbClr val="8096A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8BD90-0512-480B-967D-E37672EC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6A3"/>
          </a:solidFill>
          <a:ln xmlns:a="http://schemas.openxmlformats.org/drawingml/2006/main" w="0">
            <a:solidFill>
              <a:srgbClr val="8096A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CE32B-64B3-4721-ABC5-316B9A6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2400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23D"/>
          </a:solidFill>
          <a:ln xmlns:a="http://schemas.openxmlformats.org/drawingml/2006/main" w="9525">
            <a:solidFill>
              <a:srgbClr val="526B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E7561-B09A-4FF2-9B95-E12D9079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3D"/>
          </a:solidFill>
          <a:ln xmlns:a="http://schemas.openxmlformats.org/drawingml/2006/main" w="0">
            <a:solidFill>
              <a:srgbClr val="20323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3. subject catalog로 약어 해결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54B63-D196-48D2-8231-2ED4753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8686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C2B36"/>
          </a:solidFill>
          <a:ln xmlns:a="http://schemas.openxmlformats.org/drawingml/2006/main" w="9525">
            <a:solidFill>
              <a:srgbClr val="3347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3B2B7-E98C-4808-BAC3-A8A555C9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6"/>
          </a:solidFill>
          <a:ln xmlns:a="http://schemas.openxmlformats.org/drawingml/2006/main" w="0">
            <a:solidFill>
              <a:srgbClr val="1C2B3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5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 발표 메시지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A5D0CD-958B-454E-8F03-40AB716D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387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6"/>
          </a:solidFill>
          <a:ln xmlns:a="http://schemas.openxmlformats.org/drawingml/2006/main" w="0">
            <a:solidFill>
              <a:srgbClr val="1C2B3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DocuMind는 LLM 튜닝보다 먼저 문서 구조화와 평가 루프를 갖춘 RAG 시스템으로 개선되고 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B7FB3-186B-4472-86D8-30EFBC4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6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남은 일: 실서버 pull/build, 재업로드 후 evaluate_rag 재실행, table question suite 확장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07BBB-5762-4576-A200-4BCF8715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solidFill>
              <a:srgbClr val="1320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6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262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2026-05-20T02:57:52.6950000Z</dcterms:created>
  <dcterms:modified xsi:type="dcterms:W3CDTF">2026-05-20T02:57:52.6950000Z</dcterms:modified>
</coreProperties>
</file>