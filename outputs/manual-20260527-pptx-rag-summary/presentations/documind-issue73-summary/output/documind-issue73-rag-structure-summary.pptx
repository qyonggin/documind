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54027ab4f4ad3" /><Relationship Type="http://schemas.openxmlformats.org/officeDocument/2006/relationships/extended-properties" Target="/docProps/app.xml" Id="Rf0bfccfdd34c4120" /><Relationship Type="http://schemas.openxmlformats.org/officeDocument/2006/relationships/officeDocument" Target="/ppt/presentation.xml" Id="R56ff9afab4d9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f64978afd0489a"/>
  </p:sldMasterIdLst>
  <p:notesMasterIdLst>
    <p:notesMasterId xmlns:r="http://schemas.openxmlformats.org/officeDocument/2006/relationships" r:id="R7f495a1918184a30"/>
  </p:notesMasterIdLst>
  <p:sldIdLst>
    <p:sldId xmlns:r="http://schemas.openxmlformats.org/officeDocument/2006/relationships" id="256" r:id="R0a055c8abcbc4754"/>
    <p:sldId xmlns:r="http://schemas.openxmlformats.org/officeDocument/2006/relationships" id="257" r:id="R8a13f5e1cf19445f"/>
    <p:sldId xmlns:r="http://schemas.openxmlformats.org/officeDocument/2006/relationships" id="258" r:id="R64ddc05aba1c46d4"/>
    <p:sldId xmlns:r="http://schemas.openxmlformats.org/officeDocument/2006/relationships" id="259" r:id="Rec0c86ec540a4430"/>
    <p:sldId xmlns:r="http://schemas.openxmlformats.org/officeDocument/2006/relationships" id="260" r:id="R50b5c60b29ba4ab9"/>
    <p:sldId xmlns:r="http://schemas.openxmlformats.org/officeDocument/2006/relationships" id="261" r:id="R94ab29e90b69410d"/>
    <p:sldId xmlns:r="http://schemas.openxmlformats.org/officeDocument/2006/relationships" id="262" r:id="Rd1fc8b9a27a3424b"/>
    <p:sldId xmlns:r="http://schemas.openxmlformats.org/officeDocument/2006/relationships" id="263" r:id="R555291d5787742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64978afd0489a" /><Relationship Type="http://schemas.openxmlformats.org/officeDocument/2006/relationships/theme" Target="/ppt/theme/theme1.xml" Id="R90bae0480a9249da" /><Relationship Type="http://schemas.openxmlformats.org/officeDocument/2006/relationships/notesMaster" Target="/ppt/notesMasters/notesMaster1.xml" Id="R7f495a1918184a30" /><Relationship Type="http://schemas.openxmlformats.org/officeDocument/2006/relationships/presProps" Target="/ppt/presProps.xml" Id="R49e5a6b2e6f3495d" /><Relationship Type="http://schemas.openxmlformats.org/officeDocument/2006/relationships/viewProps" Target="/ppt/viewProps.xml" Id="R1208e9f951af4c8f" /><Relationship Type="http://schemas.openxmlformats.org/officeDocument/2006/relationships/tableStyles" Target="/ppt/tableStyles.xml" Id="R02f8d5780bbd462c" /><Relationship Type="http://schemas.openxmlformats.org/officeDocument/2006/relationships/slide" Target="/ppt/slides/slide1.xml" Id="R0a055c8abcbc4754" /><Relationship Type="http://schemas.openxmlformats.org/officeDocument/2006/relationships/slide" Target="/ppt/slides/slide2.xml" Id="R8a13f5e1cf19445f" /><Relationship Type="http://schemas.openxmlformats.org/officeDocument/2006/relationships/slide" Target="/ppt/slides/slide3.xml" Id="R64ddc05aba1c46d4" /><Relationship Type="http://schemas.openxmlformats.org/officeDocument/2006/relationships/slide" Target="/ppt/slides/slide4.xml" Id="Rec0c86ec540a4430" /><Relationship Type="http://schemas.openxmlformats.org/officeDocument/2006/relationships/slide" Target="/ppt/slides/slide5.xml" Id="R50b5c60b29ba4ab9" /><Relationship Type="http://schemas.openxmlformats.org/officeDocument/2006/relationships/slide" Target="/ppt/slides/slide6.xml" Id="R94ab29e90b69410d" /><Relationship Type="http://schemas.openxmlformats.org/officeDocument/2006/relationships/slide" Target="/ppt/slides/slide7.xml" Id="Rd1fc8b9a27a3424b" /><Relationship Type="http://schemas.openxmlformats.org/officeDocument/2006/relationships/slide" Target="/ppt/slides/slide8.xml" Id="R555291d57877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ad1ba419ab7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76b2cf86c4323" /><Relationship Type="http://schemas.openxmlformats.org/officeDocument/2006/relationships/notesMaster" Target="/ppt/notesMasters/notesMaster1.xml" Id="R08d408ab0d7e45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e56adba7a74d06" /><Relationship Type="http://schemas.openxmlformats.org/officeDocument/2006/relationships/notesMaster" Target="/ppt/notesMasters/notesMaster1.xml" Id="R194c634ac60d42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aeadc5313c4415" /><Relationship Type="http://schemas.openxmlformats.org/officeDocument/2006/relationships/notesMaster" Target="/ppt/notesMasters/notesMaster1.xml" Id="R570438eab9fe47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d23e3d4f7345ca" /><Relationship Type="http://schemas.openxmlformats.org/officeDocument/2006/relationships/notesMaster" Target="/ppt/notesMasters/notesMaster1.xml" Id="Rf123ddbd8b68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f81afc7fe646c4" /><Relationship Type="http://schemas.openxmlformats.org/officeDocument/2006/relationships/notesMaster" Target="/ppt/notesMasters/notesMaster1.xml" Id="Rbfaf11258abd47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187cdc4b2e41d0" /><Relationship Type="http://schemas.openxmlformats.org/officeDocument/2006/relationships/notesMaster" Target="/ppt/notesMasters/notesMaster1.xml" Id="R3b041b88552e48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353446fdcb4860" /><Relationship Type="http://schemas.openxmlformats.org/officeDocument/2006/relationships/notesMaster" Target="/ppt/notesMasters/notesMaster1.xml" Id="Ra2d2f97d7f074d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40754c3bad41c5" /><Relationship Type="http://schemas.openxmlformats.org/officeDocument/2006/relationships/notesMaster" Target="/ppt/notesMasters/notesMaster1.xml" Id="R3862be6a9eb64b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fde64d56a4e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c51e5ff0424676" /><Relationship Type="http://schemas.openxmlformats.org/officeDocument/2006/relationships/slideLayout" Target="/ppt/slideLayouts/slideLayout2.xml" Id="Rf35945cafde9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945cafde9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b66b5b6d344657" /><Relationship Type="http://schemas.openxmlformats.org/officeDocument/2006/relationships/notesSlide" Target="/ppt/notesSlides/notesSlide1.xml" Id="R47ea27275640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31072ba1a4cda" /><Relationship Type="http://schemas.openxmlformats.org/officeDocument/2006/relationships/notesSlide" Target="/ppt/notesSlides/notesSlide2.xml" Id="Rcb210137f84549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257e249464ee3" /><Relationship Type="http://schemas.openxmlformats.org/officeDocument/2006/relationships/notesSlide" Target="/ppt/notesSlides/notesSlide3.xml" Id="Rd486e27d18a847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6e390510e432f" /><Relationship Type="http://schemas.openxmlformats.org/officeDocument/2006/relationships/notesSlide" Target="/ppt/notesSlides/notesSlide4.xml" Id="R7b08a6cc8b2a43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970b979efc49b0" /><Relationship Type="http://schemas.openxmlformats.org/officeDocument/2006/relationships/notesSlide" Target="/ppt/notesSlides/notesSlide5.xml" Id="Rb75f1429b74743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ceaf73f9c4bac" /><Relationship Type="http://schemas.openxmlformats.org/officeDocument/2006/relationships/notesSlide" Target="/ppt/notesSlides/notesSlide6.xml" Id="Rad20f12e6363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dca258fb0f4521" /><Relationship Type="http://schemas.openxmlformats.org/officeDocument/2006/relationships/notesSlide" Target="/ppt/notesSlides/notesSlide7.xml" Id="Ree6a19ddd4244f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f976ea72e4c33" /><Relationship Type="http://schemas.openxmlformats.org/officeDocument/2006/relationships/notesSlide" Target="/ppt/notesSlides/notesSlide8.xml" Id="R20336cf336b64e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0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C014E8-76D0-4484-AC2A-0545F48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60137-F045-4233-A93A-AEFED0F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FC054-2648-4A2A-B283-F8FDED2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67000"/>
            <a:ext cx="2857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2EDC6-C266-451E-87B1-A716091A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383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9A"/>
          </a:solidFill>
          <a:ln xmlns:a="http://schemas.openxmlformats.org/drawingml/2006/main" w="0">
            <a:solidFill>
              <a:srgbClr val="0B57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63AB4-1ADF-4A58-9915-FFDB045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8674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9A"/>
          </a:solidFill>
          <a:ln xmlns:a="http://schemas.openxmlformats.org/drawingml/2006/main" w="0">
            <a:solidFill>
              <a:srgbClr val="0B57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51896-6A25-499C-98A0-60C61759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90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B9B6C-E806-4CAE-9A8B-87BB51F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628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RAG 구조 개선 작업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B27AE-D32E-41FC-8A0F-D0C42592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5C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 구조를 보존하는 검색·출처 분리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D29B4-57E6-4599-AAF9-2EF50502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ED8"/>
          </a:solidFill>
          <a:ln xmlns:a="http://schemas.openxmlformats.org/drawingml/2006/main" w="0">
            <a:solidFill>
              <a:srgbClr val="C5C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2F83A-B8C6-4B7A-99C1-F3EB2BF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CE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#73 · Data Contract → Trace 검증 → SourceBlock runtime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ABC77-B2A9-457E-B469-3E70FE9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609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9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202244092 김용진   |   2026.05</a:t>
            </a:r>
          </a:p>
        </p:txBody>
      </p:sp>
    </p:spTree>
    <p:extLst>
      <p:ext uri="{BB962C8B-B14F-4D97-AF65-F5344CB8AC3E}">
        <p14:creationId xmlns:p14="http://schemas.microsoft.com/office/powerpoint/2010/main" val="1558392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D4046-95CD-46B6-B115-2C88D90A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28818-308D-4E68-9616-A8CB54F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B05CE-CE2C-481D-8B0D-69063DD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7C9D-2983-48C3-A5B7-B6A99B87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CCD70-356D-40DD-9546-309E47C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구조의 위험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AE8E6-93F5-4660-B279-A5E07271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검색을 잘하려고 chunk에 제목·이전 문맥·표 요약을 붙이면, 같은 chunk가 사용자에게는 실제 원문처럼 보일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AEA1E-4B48-48C5-BDB0-E11207E1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81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25A25-53BE-4AFE-88F9-47A7AAB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기존 chunk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35922-2920-479D-A648-7F90E3B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5285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D3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검색용 내용과 원문 출처가 섞임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F6A12-78E1-4B20-8787-BB9D23CE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AF946-F6CD-43D4-A2D2-9C67402E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F1608-74E2-4157-B0DD-C61A3C35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84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parser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B6146-0108-4F27-ABEC-340275C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1638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텍스트를 여러 목적에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EAE6A-5075-4DDE-B0A4-A6C4C766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DE1D5-014D-4203-8BDF-281D3CFC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D9D09-8BB3-4951-B384-03A9F11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914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77F47-18EA-4677-A290-1AE472F7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956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F3B04-1C3E-4D2C-BBB9-4A77E189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8600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517E7-B6F7-453B-83DA-1BDEE08D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86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D0881-AE43-4E67-8B4C-BFBBBE40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384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대상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4254E-6BAB-4318-B969-C034E1CE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43200"/>
            <a:ext cx="1638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텍스트를 여러 목적에 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62C3F-F1F2-4856-96F3-EC778699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64F4B-82B2-48BE-9AC0-E8B3F20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78E2B-0F08-47A6-8FF4-E557C96B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64FC3-8D36-462B-A945-F2EEF1C5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956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4F140-0643-442C-B0B6-4CE9B42C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E75C9-E4B8-47BD-89B9-930ED0B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CB6D"/>
          </a:solidFill>
          <a:ln xmlns:a="http://schemas.openxmlformats.org/drawingml/2006/main" w="0">
            <a:solidFill>
              <a:srgbClr val="3BCB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ECE7C-6DAF-4CF8-9102-E97AA633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84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근거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236F6-5F7A-46C1-8162-4285630A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1638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텍스트를 여러 목적에 사용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C1F774-CE11-40BB-842F-2C4EA95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-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55716-E6D6-4485-B0BF-EAE638D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457A4-777F-472F-B895-24A8A635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-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EEB8AB-641F-4D1A-AB59-F5CBBFE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956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601F8-99A1-406F-A4BA-7A008D24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4E085-9DE4-41E8-B079-4C703ABC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14D"/>
          </a:solidFill>
          <a:ln xmlns:a="http://schemas.openxmlformats.org/drawingml/2006/main" w="0">
            <a:solidFill>
              <a:srgbClr val="FF91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CE171-6F0D-44EB-AAEA-FE101ADE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384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출처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6205A-E80A-4860-8442-17AC22DA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1638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텍스트를 여러 목적에 사용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F409AA-CAF2-4969-A829-9BC0570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71800"/>
            <a:ext cx="-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C45D4-53E9-4A67-BB33-B0B16DB3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D351C4-7024-4C18-8ACA-6ACFA785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-2085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21708D-7830-4E66-94D1-A9037854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956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239C52-5F32-4824-AECD-C1A6473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9C9EEC-8D0D-447E-A99B-82317DE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6D"/>
          </a:solidFill>
          <a:ln xmlns:a="http://schemas.openxmlformats.org/drawingml/2006/main" w="0">
            <a:solidFill>
              <a:srgbClr val="FFE6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52F3D7-3559-4598-861E-6CE757A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244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table_fact 부모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983B13-278B-4F33-83F8-FEF478C8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29200"/>
            <a:ext cx="1638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텍스트를 여러 목적에 사용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569B07-6186-4D40-91CC-0DB64A0D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E9C389-DBAE-4212-AAAA-A71D6A14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3D2996-FF37-4EB5-9791-B468AE91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247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4E5FFB-5624-4450-A358-167F1BE5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956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B69C5A-5B0A-4DB0-B8C9-4E5ACA73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1981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A56C12-F2A4-45CC-8157-A17455B6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B5B"/>
          </a:solidFill>
          <a:ln xmlns:a="http://schemas.openxmlformats.org/drawingml/2006/main" w="0">
            <a:solidFill>
              <a:srgbClr val="E25B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8C16CA-E6A9-4479-BE81-82647AF9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debug trace 후보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C22435-61E1-4EBA-BC4E-73F1EB0A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29200"/>
            <a:ext cx="16383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텍스트를 여러 목적에 사용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F97D85-008E-4342-A616-3823324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-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3028BA-7284-4716-AB94-37650C7D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0515D9-6976-4D95-B4F5-559BF63D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-1419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96D662-9E7A-4AB2-8E25-DB34990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956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160084-F721-43B0-8E60-2BCF421E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10210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6C5306-D82F-4789-974A-4D5C7A9C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57875"/>
            <a:ext cx="971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따라서 #73의 핵심은 검색에 쓰는 내용과 사용자에게 보여줄 원문 출처를 분리하는 것이다.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615A5D-8A2E-4E62-BCA4-438FB3B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475447-5627-4EAC-8E9B-249AABB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481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8C4CE-FBE2-4900-98C2-58C85C15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EC09-B411-4E11-95D4-88EEE5F0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46D26-74EC-423D-BC69-B9590BA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4BCCB-3869-46D2-949C-BBE93E0A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구조 분리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6AD81-24A4-4A45-A828-67C3AC21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8D8B1-69B9-4E3B-809F-DD27E16F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819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5B5B"/>
          </a:solidFill>
          <a:ln xmlns:a="http://schemas.openxmlformats.org/drawingml/2006/main" w="0">
            <a:solidFill>
              <a:srgbClr val="E25B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6E0A9-7B49-4ED9-A448-A33D4E82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04975"/>
            <a:ext cx="6667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2FE51-5F53-49A4-9730-36AC871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00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덩어리 chunk가</a:t>
            </a:r>
          </a:p>
          <a:p xmlns:a="http://schemas.openxmlformats.org/drawingml/2006/main">
            <a:pPr algn="l">
              <a:defRPr sz="18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검색·답변·출처를 모두 담당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F1694-5D00-4AF0-8F0A-CD4AF4D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2628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57377-CDF2-44D4-9E8F-D1AA77C1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chunk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04044-158B-4160-BCE1-99F15AC8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057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3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원문 + 검색용 보강 + 표 요약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927B7-E86B-4A64-89A2-30038929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43668-E390-454E-A66B-7915FBA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검색을 위해 넣은 가공 문맥이</a:t>
            </a:r>
          </a:p>
          <a:p xmlns:a="http://schemas.openxmlformats.org/drawingml/2006/main">
            <a:pPr algn="l">
              <a:defRPr sz="12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출처처럼 노출될 수 있음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17720-A0CB-4692-B422-50273ADB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28750"/>
            <a:ext cx="56578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0D8BB-AC13-46FC-9928-4CB55E4B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8191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BCB6D"/>
          </a:solidFill>
          <a:ln xmlns:a="http://schemas.openxmlformats.org/drawingml/2006/main" w="0">
            <a:solidFill>
              <a:srgbClr val="3BCB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E7AD4-0BAA-4D8B-955E-C1CF52F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6667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B2DB0-4731-413E-BFA1-CDFCF35D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역할별 data contract로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8CFA3-8E4A-4547-8697-4DF54D5C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C7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73424-2D1A-4C94-8207-B9357748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C7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ParsedBlock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A6EF3-8270-4826-90E0-5CF1A5D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파서가 읽은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73C76-8B68-4B57-92C7-8DB12A78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CB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28F1B-3385-4B3D-AE10-655F48C6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CB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SourceBlock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2809E-5A8F-4185-BC01-B332FF0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사용자에게 보여줄 원문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CE636-0343-48F2-ADE1-CA4E504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3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AE329-3EEB-446B-AE37-C4074DC4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7655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RetrievalChunk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07028-5964-4822-8F82-552CC089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엔진에 넣는 텍스트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137ED-32E1-43E2-896A-C06A3B9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91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B3421-B2FB-46C4-8EFF-C175270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1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SelectedContext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07EBF3-9A43-4827-8A1E-05DAAC38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7670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LLM에게 넣는 최종 근거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75900-24D1-4748-B21E-151C3052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85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F6B60-BDBE-4B04-9181-E3DF862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384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A766A-D87C-4604-809B-E8D33A9F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485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E4A94F-B03A-415B-BF13-BC51B26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719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053D4-306F-4DAF-BCC0-B9126953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29000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08497-55F7-4CA2-8E11-F9EE0BD4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90925"/>
            <a:ext cx="95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D9C599-4E45-4FC9-82EC-ACE363A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4400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B6E6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1716AA-A769-47D2-B790-97E41CAD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이제 검색 품질을 올려도 원문 출처를 따로 보호할 수 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99700-8CC7-42DE-BDF6-84F6BFE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1E8195-01AE-453D-9DE0-7CF374D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5412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12EFA4-863A-4337-84D6-568EF6E4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4DC84-F2E1-485B-816D-39D9B4A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C37DB-9A8D-459D-92ED-42925213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37F99-39BB-4A06-AC27-6F0532DD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안전한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09E0-001C-4B7F-AC30-3D74AC40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처음부터 실제 검색 흐름에 붙이면 검색 결과, 프롬프트, 사용자 응답이 동시에 흔들릴 수 있었다.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B8E45-8F49-47E5-B69C-CAF343C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933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45452-027B-4E46-B626-B2EA1FFB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B5B"/>
          </a:solidFill>
          <a:ln xmlns:a="http://schemas.openxmlformats.org/drawingml/2006/main" w="0">
            <a:solidFill>
              <a:srgbClr val="E2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A47BE-AB1B-48EC-8BCA-F5252ECA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업로드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83916-35F3-4286-A5BE-1E3487E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5908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문서를 쪼개고 합치는 위치</a:t>
            </a:r>
          </a:p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위험: 잘못 붙이면 실제 색인 데이터가 바뀜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C373D-7D43-40C5-846B-C53E8C0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933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4804C-E125-4D4C-BAD3-CAAF68A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14D"/>
          </a:solidFill>
          <a:ln xmlns:a="http://schemas.openxmlformats.org/drawingml/2006/main" w="0">
            <a:solidFill>
              <a:srgbClr val="FF91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DE65D-3299-4F5A-8D6C-F125D70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288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인덱스 저장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AB83C-F221-4752-A59F-C507D3D9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33650"/>
            <a:ext cx="25908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ChromaDB documents를 만드는 위치</a:t>
            </a:r>
          </a:p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위험: 저장값과 metadata가 바뀔 수 있음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192A6-61DB-453D-9917-621EE9C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33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C224E-7CAE-4A76-856D-AB566C4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CB6D"/>
          </a:solidFill>
          <a:ln xmlns:a="http://schemas.openxmlformats.org/drawingml/2006/main" w="0">
            <a:solidFill>
              <a:srgbClr val="3BCB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15D5E-2A80-485F-B014-1A70B86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debug trace 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E2F48-4707-4DC8-8260-862D792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25908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후보를 JSON으로 보여주는 위치</a:t>
            </a:r>
          </a:p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장점: 관찰만 하고 runtime 영향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1C474-24F2-4CF6-A756-DDA8F147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24F77-30F0-43B4-86D8-8B3AABA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908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A6D67-BFFC-474F-88FF-6EFCAEA1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38450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B5B2E-DFC5-4735-9AD6-9E7B9CD9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908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0B1C31-9EA4-467C-8028-13D48F0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9563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566C2-EE3D-4F0C-8245-2930453D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E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7F028-16FD-477C-981C-C09C8172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47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contract는 먼저 /debug/rag-trace에서만 관찰했다.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그래서 업로드, 저장, 검색 순위, LLM prompt, /query 응답을 바꾸지 않고 구조를 검증했다.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CF7D6-625A-4A48-891F-3AE89A4B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71ECD-35C8-4F19-A832-DD51B6C7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4839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4FF76-47C5-43D4-B6AF-38C270D3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3EA44-7020-4043-8D5B-E2E3F485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A5900-B23D-4E52-8D8A-C7F6341A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FC05B-8284-452E-94A1-455CD670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값과 제목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2BCDD-1E83-4CA0-A227-05EA2D0D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7C4C5-8872-4E3D-9CCC-614CAD5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 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66A91-9518-41E8-A863-53E62039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3810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 안의 금액이나 인원수가 제목처럼 저장되면, 검색할 때 엉뚱한 제목처럼 앞에 붙을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10C7B-43D7-43C4-831D-1B915710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19050">
            <a:solidFill>
              <a:srgbClr val="E25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684F-9E6F-47E9-81C9-6DFC7B7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051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5B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section_path = ["423만원"]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B6BB7-70FB-4633-8403-5621455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값처럼 보이는 문자열이 제목 역할을 하려는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41F3F-8DE9-4638-9CFD-0602CBD8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1019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C5D77-119C-42FD-A46A-7CAEBC7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765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EE6B6-0882-407B-944C-F836029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097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F74EA-DBC4-497C-A5E9-8A3F4C92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CB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일반화된 방어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E28DF-C35D-4EEC-8AD5-AF2A0A19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57400"/>
            <a:ext cx="3905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특정 금액이나 학과명을 코드에 박지 않았다. 대신 숫자·금액·인원수처럼 “값”으로 보이면 제목 후보에서 조심스럽게 다룬다.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4FCFB-AADC-4FE0-8F77-127C733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14650"/>
            <a:ext cx="2952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914D"/>
          </a:solidFill>
          <a:ln xmlns:a="http://schemas.openxmlformats.org/drawingml/2006/main" w="0">
            <a:solidFill>
              <a:srgbClr val="FF9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85F77-BF8E-4F75-AA1E-7CB4C30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81325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제목 후보: 의심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BE56D-5F60-4FCE-B590-C2E11736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90900"/>
            <a:ext cx="2952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3BCB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96C3A-2CCB-4B4D-A253-F519BA18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241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검색용 제목으로 붙이지 않고</a:t>
            </a:r>
          </a:p>
          <a:p xmlns:a="http://schemas.openxmlformats.org/drawingml/2006/main">
            <a:pPr algn="ctr">
              <a:defRPr sz="1200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원문 그대로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29997-2340-4B1F-A85D-A83C510E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9029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E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603AA-93D2-44C1-A302-FCA25E3D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72125"/>
            <a:ext cx="853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의미: 표 안의 값을 제목으로 착각하지 않게 해서, 출처와 검색 내용이 더 덜 섞이게 만들었다.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9B738-7D25-4C6C-9229-43DD0BD7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5BAED-B042-4FF0-AD1F-30C671D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2033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B8DF2-F9EB-40B7-BC75-6449DEFE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CEF3A-7881-45D8-9AC1-0B7F1A35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EC076-86EF-4AC7-9BED-1BC65F24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2C8B-D639-40C7-B27C-760D535F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원문 저장소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7B4B9-E770-4F01-A664-973F18A8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 #85에서 검색용 documents collection은 유지하고, 원문 출처 전용 source_blocks collection을 추가했다.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F86B3-0903-435D-9E00-A8D5ED9B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90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1BD6B-E117-4BD5-8714-0032E9EA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33650"/>
            <a:ext cx="121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업로드된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chunk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2EB88-C330-40F7-8CC5-831E135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1057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014F4-FFAC-40CA-82D1-96D7EECA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336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54D23-E055-4CB6-9654-5CF3E412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9050">
            <a:solidFill>
              <a:srgbClr val="0B8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C43F8-DFDC-4ED1-853A-7D615B3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69064-05F8-47DC-BC63-0ADC7937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2114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embedding 검색에 쓰는 기존 collection</a:t>
            </a:r>
          </a:p>
          <a:p xmlns:a="http://schemas.openxmlformats.org/drawingml/2006/main">
            <a:pPr algn="ctr">
              <a:defRPr sz="10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순위와 prompt는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1F0E7-13F5-4BAF-9FF3-2EFBAFA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9050">
            <a:solidFill>
              <a:srgbClr val="3BCB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5E065-626B-4297-B8CD-FD2B5C76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CB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source_blocks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51011-98F8-4B1D-B789-34D585F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24350"/>
            <a:ext cx="2114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사용자에게 보여줄 원문 조각을 id 기반으로 보관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56186-F14B-453D-9D70-6FEB4014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46852-ED44-469A-86A0-9ACEB157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04F1B-9723-4EF1-A9B0-3A13DA3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485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9DF81-E17D-4BD1-A5A5-6C3A5CA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CC126-CCC8-4A4A-9BF6-EF8B0314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E564F-E847-41D6-BD2B-6524716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연결 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27EBF-9610-4FF6-8A85-C077E27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190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source_block_id</a:t>
            </a:r>
          </a:p>
          <a:p xmlns:a="http://schemas.openxmlformats.org/drawingml/2006/main">
            <a:pPr algn="l">
              <a:defRPr sz="18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source_lookup_id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341EE-6A88-43DF-B9E8-9646101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후보에서 원문 SourceBlock을 다시 찾는 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6ABBB-82FB-4C79-B1CC-EB89E74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720FD-356E-4075-BD20-AD2FB4E5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6E617-3819-4AC8-BE55-C7A3B86A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2983E-62A4-4F3F-9B8D-686BCA15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051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4579E-67D1-4FC3-A96A-EFB2DC59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2F018-C40C-4136-8100-EFE7547B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C01B4-3685-42C0-AC70-9A536037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FC564-2D53-48EC-891F-D909788F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004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280"/>
          </a:solidFill>
          <a:ln xmlns:a="http://schemas.openxmlformats.org/drawingml/2006/main" w="0">
            <a:solidFill>
              <a:srgbClr val="6A72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B9606-59B9-4041-BB27-E790A94F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B6E6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BDE9B-F76E-4FF1-8DD5-BD00FF2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34025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결과: 이제 검색 chunk와 사용자 출처 원문을 같은 document_id 안에서 따로 관리할 수 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D150DB-BD1E-47B3-B3EC-E13CEBED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85EBA4-C452-4F80-8424-D745148C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4049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4EE04-C799-48E7-8CA3-9DC3474C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E783C-250E-4252-8846-02A9D3D6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042D2-AB7A-42D2-960F-97A7F486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EBD53-F3F4-46B2-8745-08877FE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일관성 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99B75-5D12-42B9-A11F-99FDD0E4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source_blocks는 원문 출처의 기준이 되기 때문에, documents와 상태가 어긋나면 더 위험해진다.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07E5C-B7B4-4C10-88FF-09E41A8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D282D-8C43-4FF5-A6E6-5ACA32B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C211-E235-48C8-8BCD-08F8F048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 저장 순서 보정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A72E4-E812-47D0-9563-C07A59E6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documents 저장이 성공한 뒤에 source_blocks를 저장하도록 순서를 바꿨다.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21BEC-A1ED-423A-8C88-DF7D16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FBF4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AB9B8-5107-404B-80D6-786324A9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CB6D"/>
          </a:solidFill>
          <a:ln xmlns:a="http://schemas.openxmlformats.org/drawingml/2006/main" w="0">
            <a:solidFill>
              <a:srgbClr val="3BCB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05820-1C20-4005-92AF-7B02FE0C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2. 실패 시 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F57B6-47FC-44A5-9C0F-10DEA84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둘 중 하나라도 실패하면 같은 document_id 기준으로 양쪽 상태를 맞춘다.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24A46-84CE-499A-9318-1815F14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2E2C8-B017-4C50-8B7A-0ED3F90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14D"/>
          </a:solidFill>
          <a:ln xmlns:a="http://schemas.openxmlformats.org/drawingml/2006/main" w="0">
            <a:solidFill>
              <a:srgbClr val="FF91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F4C85-93C7-4C02-9A92-50DFDA84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3. 삭제 실패 보상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7EEF4-90C6-4F36-A0DE-04B318E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한쪽 삭제만 성공해서 DB와 검색 인덱스가 어긋나는 위험을 줄였다.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CEF7A-5543-484E-8C34-90EA0B7E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990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10A8D-9AFE-44C5-B619-CC0CDF6C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왜 중요한가?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838A8-D5C8-4512-957F-2D50B626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714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인덱스는 지워졌는데 DB 문서는 active로 남거나, 원문 출처만 남는 상태를 막아야 운영에서 신뢰할 수 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2056C-E657-4CBE-B0DA-6D64B52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81650"/>
            <a:ext cx="8343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E7DE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88249-40B6-4996-818E-2D8BE78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 #85 merge 완료 · merge commit 010ef056 · #73의 첫 runtime 저장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46D37-D0C2-483D-A39D-BF9E3A16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17DD1-BF5F-4651-B0A5-B9595E78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9230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A2DA2-E25F-4B21-B1CB-BFCC71F4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BA1D9-5E61-4E41-8F4E-B49F8E6F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1755A-87D7-4029-93FA-8438D2B6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98E50-501F-4C4E-AD7A-7B1A3E49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933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9FEB2-FD67-44B0-9554-783C0F7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지금까지는 RAG 품질을 바로 올린 것이 아니라, 품질 개선을 안전하게 넣을 수 있는 구조를 만든 단계다.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64CA7-5DD0-45A8-9EE9-311A78F1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4288">
            <a:solidFill>
              <a:srgbClr val="0B8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8DECC-D9C1-454F-A8C2-A6AD5AA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83E6"/>
          </a:solidFill>
          <a:ln xmlns:a="http://schemas.openxmlformats.org/drawingml/2006/main" w="0">
            <a:solidFill>
              <a:srgbClr val="0B83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262A6-42CB-4518-A061-246F522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857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A99C3-EA42-44F3-8750-E7B9EC0A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9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3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완료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F1C5A-A594-4EC2-B64B-9468A335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771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contract 정의</a:t>
            </a:r>
          </a:p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 preview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10B71-0B89-4A5A-B7A5-D1EAF746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4288">
            <a:solidFill>
              <a:srgbClr val="3BCB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F32FC-1CDC-4F8A-8D24-163BDF25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CB6D"/>
          </a:solidFill>
          <a:ln xmlns:a="http://schemas.openxmlformats.org/drawingml/2006/main" w="0">
            <a:solidFill>
              <a:srgbClr val="3BCB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E1FC0-D3EE-4925-AED2-6CF99D0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2857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71CAB-AA60-407C-8ADB-14C34B57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CB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500D3-E8D5-4A51-ABEC-EA59A5A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771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SourceBlock store</a:t>
            </a:r>
          </a:p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원문 저장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649D4-0186-40C4-ACBB-4AAE6D7F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574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28575">
            <a:solidFill>
              <a:srgbClr val="FF9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E9FD1-E9E1-4AAB-8B24-EAF0CC70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914D"/>
          </a:solidFill>
          <a:ln xmlns:a="http://schemas.openxmlformats.org/drawingml/2006/main" w="0">
            <a:solidFill>
              <a:srgbClr val="FF91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2F004-D83B-4F5A-A640-300A3E2D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57425"/>
            <a:ext cx="2857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B7CA6-3C0F-4CB3-8F11-7056471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1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A5A8F-D23B-478B-8DCC-343DEA06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771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/query 출처를</a:t>
            </a:r>
          </a:p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원문 기준으로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368E1-25D4-4E60-BFEB-8FB90C9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4288">
            <a:solidFill>
              <a:srgbClr val="22C7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5F061-4400-4BDD-833D-AFAA58B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21279-D673-4F2B-BCA6-523A5F23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57425"/>
            <a:ext cx="2857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4AFE9-2FD2-44BE-A00C-2F08E24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C7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후속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82F71-036B-4D67-95D8-CBDD483D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771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검색용 chunk를</a:t>
            </a:r>
          </a:p>
          <a:p xmlns:a="http://schemas.openxmlformats.org/drawingml/2006/main">
            <a:pPr algn="ctr">
              <a:defRPr sz="975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실제 indexing에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FA771-3D10-4081-BF07-CAD670F1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114B2-3640-4527-B317-B90575F0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622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5CF75-A57A-49B5-9620-C9F5185F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430BF6-EB15-423F-AB9E-CAF75BD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622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0B695-D993-4AF3-B6DF-31944078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7CD84D-E190-4105-9DC4-2075FD0E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622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190"/>
          </a:solidFill>
          <a:ln xmlns:a="http://schemas.openxmlformats.org/drawingml/2006/main" w="0">
            <a:solidFill>
              <a:srgbClr val="7A819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64858F-050D-4B73-B145-A1ECC7E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9867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8304B"/>
          </a:solidFill>
          <a:ln xmlns:a="http://schemas.openxmlformats.org/drawingml/2006/main" w="0">
            <a:solidFill>
              <a:srgbClr val="1830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68EEC9-9050-4700-A3C5-76A75965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6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 PR의 범위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E1ADA1-675B-4704-8A3D-AE21439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순위, documents 저장값, LLM prompt는 그대로 둔다.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사용자에게 보이는 출처 미리보기만 source_blocks 원문으로 바꾼다.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3E092-D288-4A87-A5FC-702ACBBA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14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E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8AE30-7CCB-4E9D-9D5F-B76B06A5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95950"/>
            <a:ext cx="861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1B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면접 한 문장: 검색용 텍스트와 사용자 출처 원문을 분리해, 품질 개선이 출처 신뢰성을 해치지 않도록 구조를 바꿨습니다.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B59F87-C02A-4FDF-BD7A-395BAB85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DocuMind #73 RAG 구조 개선 작업 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4277FC-2FDC-4509-B131-F1B985DF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36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57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7716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2026-05-27T01:31:44.6870000Z</dcterms:created>
  <dcterms:modified xsi:type="dcterms:W3CDTF">2026-05-27T01:31:44.6870000Z</dcterms:modified>
</coreProperties>
</file>